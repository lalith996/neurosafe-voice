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4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5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1790fdc38c47bc" /><Relationship Type="http://schemas.openxmlformats.org/officeDocument/2006/relationships/extended-properties" Target="/docProps/app.xml" Id="R381d2a6ff48f414f" /><Relationship Type="http://schemas.openxmlformats.org/officeDocument/2006/relationships/officeDocument" Target="/ppt/presentation.xml" Id="R89dcb8a3e48441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c5f991fc784732"/>
  </p:sldMasterIdLst>
  <p:notesMasterIdLst>
    <p:notesMasterId xmlns:r="http://schemas.openxmlformats.org/officeDocument/2006/relationships" r:id="Ra19908283ed5488c"/>
  </p:notesMasterIdLst>
  <p:sldIdLst>
    <p:sldId xmlns:r="http://schemas.openxmlformats.org/officeDocument/2006/relationships" id="256" r:id="Rd5e062951ae64d7c"/>
    <p:sldId xmlns:r="http://schemas.openxmlformats.org/officeDocument/2006/relationships" id="257" r:id="R4e02937df324409e"/>
    <p:sldId xmlns:r="http://schemas.openxmlformats.org/officeDocument/2006/relationships" id="258" r:id="Re8d27883b5a74e9c"/>
    <p:sldId xmlns:r="http://schemas.openxmlformats.org/officeDocument/2006/relationships" id="259" r:id="Rfdea6b3035c140ce"/>
    <p:sldId xmlns:r="http://schemas.openxmlformats.org/officeDocument/2006/relationships" id="260" r:id="R38e111c55c1b4296"/>
    <p:sldId xmlns:r="http://schemas.openxmlformats.org/officeDocument/2006/relationships" id="261" r:id="Re92e6902987a4b84"/>
    <p:sldId xmlns:r="http://schemas.openxmlformats.org/officeDocument/2006/relationships" id="262" r:id="Ra043ad7e3f4a42e9"/>
    <p:sldId xmlns:r="http://schemas.openxmlformats.org/officeDocument/2006/relationships" id="263" r:id="Ra7528377730e43bd"/>
    <p:sldId xmlns:r="http://schemas.openxmlformats.org/officeDocument/2006/relationships" id="264" r:id="R60bf071578a7464a"/>
    <p:sldId xmlns:r="http://schemas.openxmlformats.org/officeDocument/2006/relationships" id="265" r:id="R8a77233e723d42ed"/>
    <p:sldId xmlns:r="http://schemas.openxmlformats.org/officeDocument/2006/relationships" id="266" r:id="Rcdd1fd98a6074179"/>
    <p:sldId xmlns:r="http://schemas.openxmlformats.org/officeDocument/2006/relationships" id="267" r:id="Rfbe2917c86dc4443"/>
    <p:sldId xmlns:r="http://schemas.openxmlformats.org/officeDocument/2006/relationships" id="268" r:id="R60a501f052e341ee"/>
    <p:sldId xmlns:r="http://schemas.openxmlformats.org/officeDocument/2006/relationships" id="269" r:id="R45742a4155534012"/>
    <p:sldId xmlns:r="http://schemas.openxmlformats.org/officeDocument/2006/relationships" id="270" r:id="Rfce93a1a2c024c85"/>
    <p:sldId xmlns:r="http://schemas.openxmlformats.org/officeDocument/2006/relationships" id="271" r:id="R0cc13faf60f741ef"/>
    <p:sldId xmlns:r="http://schemas.openxmlformats.org/officeDocument/2006/relationships" id="272" r:id="Ra956e404c9c24b1a"/>
    <p:sldId xmlns:r="http://schemas.openxmlformats.org/officeDocument/2006/relationships" id="273" r:id="R7edfece4fdf64da0"/>
    <p:sldId xmlns:r="http://schemas.openxmlformats.org/officeDocument/2006/relationships" id="274" r:id="R07f90bda4f2646d1"/>
    <p:sldId xmlns:r="http://schemas.openxmlformats.org/officeDocument/2006/relationships" id="275" r:id="R379a9b8ed7224b1d"/>
    <p:sldId xmlns:r="http://schemas.openxmlformats.org/officeDocument/2006/relationships" id="276" r:id="R3803704555f84007"/>
    <p:sldId xmlns:r="http://schemas.openxmlformats.org/officeDocument/2006/relationships" id="277" r:id="Rf1042af4bbe4476c"/>
    <p:sldId xmlns:r="http://schemas.openxmlformats.org/officeDocument/2006/relationships" id="278" r:id="R346292ed5aab45c7"/>
    <p:sldId xmlns:r="http://schemas.openxmlformats.org/officeDocument/2006/relationships" id="279" r:id="R81cbe4376dfc4f3d"/>
    <p:sldId xmlns:r="http://schemas.openxmlformats.org/officeDocument/2006/relationships" id="280" r:id="Rec9fc58508ca47ee"/>
  </p:sldIdLst>
  <p:sldSz cx="9144000" cy="6858000"/>
  <p:notesSz cx="6858000" cy="9144000"/>
  <p:defaultTextStyle>
    <a:def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1pPr>
    <a:lvl2pPr xmlns:a="http://schemas.openxmlformats.org/drawingml/2006/main" marL="0" marR="0" indent="4572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2pPr>
    <a:lvl3pPr xmlns:a="http://schemas.openxmlformats.org/drawingml/2006/main" marL="0" marR="0" indent="9144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3pPr>
    <a:lvl4pPr xmlns:a="http://schemas.openxmlformats.org/drawingml/2006/main" marL="0" marR="0" indent="13716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4pPr>
    <a:lvl5pPr xmlns:a="http://schemas.openxmlformats.org/drawingml/2006/main" marL="0" marR="0" indent="182880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5pPr>
    <a:lvl6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6pPr>
    <a:lvl7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7pPr>
    <a:lvl8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8pPr>
    <a:lvl9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400" b="0" i="0" u="none" strike="noStrike" cap="none" spc="0" baseline="0">
        <a:ln>
          <a:noFill/>
        </a:ln>
        <a:solidFill>
          <a:srgbClr val="000000"/>
        </a:solidFill>
        <a:latin typeface="Times New Roman"/>
        <a:ea typeface="Times New Roman"/>
        <a:cs typeface="Times New Roman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/>
      <a:tcStyle>
        <a:tcBdr/>
        <a:fill>
          <a:solidFill>
            <a:srgbClr val="F3F9F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add37158fc42bf" /><Relationship Type="http://schemas.openxmlformats.org/officeDocument/2006/relationships/slideMaster" Target="/ppt/slideMasters/slideMaster1.xml" Id="R73c5f991fc784732" /><Relationship Type="http://schemas.openxmlformats.org/officeDocument/2006/relationships/notesMaster" Target="/ppt/notesMasters/notesMaster1.xml" Id="Ra19908283ed5488c" /><Relationship Type="http://schemas.openxmlformats.org/officeDocument/2006/relationships/presProps" Target="/ppt/presProps.xml" Id="R931fca86687a45ec" /><Relationship Type="http://schemas.openxmlformats.org/officeDocument/2006/relationships/viewProps" Target="/ppt/viewProps.xml" Id="R1f7fe91b481f4683" /><Relationship Type="http://schemas.openxmlformats.org/officeDocument/2006/relationships/tableStyles" Target="/ppt/tableStyles.xml" Id="Rd205f14d8a1c4278" /><Relationship Type="http://schemas.openxmlformats.org/officeDocument/2006/relationships/slide" Target="/ppt/slides/slide1.xml" Id="Rd5e062951ae64d7c" /><Relationship Type="http://schemas.openxmlformats.org/officeDocument/2006/relationships/slide" Target="/ppt/slides/slide2.xml" Id="R4e02937df324409e" /><Relationship Type="http://schemas.openxmlformats.org/officeDocument/2006/relationships/slide" Target="/ppt/slides/slide3.xml" Id="Re8d27883b5a74e9c" /><Relationship Type="http://schemas.openxmlformats.org/officeDocument/2006/relationships/slide" Target="/ppt/slides/slide4.xml" Id="Rfdea6b3035c140ce" /><Relationship Type="http://schemas.openxmlformats.org/officeDocument/2006/relationships/slide" Target="/ppt/slides/slide5.xml" Id="R38e111c55c1b4296" /><Relationship Type="http://schemas.openxmlformats.org/officeDocument/2006/relationships/slide" Target="/ppt/slides/slide6.xml" Id="Re92e6902987a4b84" /><Relationship Type="http://schemas.openxmlformats.org/officeDocument/2006/relationships/slide" Target="/ppt/slides/slide7.xml" Id="Ra043ad7e3f4a42e9" /><Relationship Type="http://schemas.openxmlformats.org/officeDocument/2006/relationships/slide" Target="/ppt/slides/slide8.xml" Id="Ra7528377730e43bd" /><Relationship Type="http://schemas.openxmlformats.org/officeDocument/2006/relationships/slide" Target="/ppt/slides/slide9.xml" Id="R60bf071578a7464a" /><Relationship Type="http://schemas.openxmlformats.org/officeDocument/2006/relationships/slide" Target="/ppt/slides/slide10.xml" Id="R8a77233e723d42ed" /><Relationship Type="http://schemas.openxmlformats.org/officeDocument/2006/relationships/slide" Target="/ppt/slides/slide11.xml" Id="Rcdd1fd98a6074179" /><Relationship Type="http://schemas.openxmlformats.org/officeDocument/2006/relationships/slide" Target="/ppt/slides/slide12.xml" Id="Rfbe2917c86dc4443" /><Relationship Type="http://schemas.openxmlformats.org/officeDocument/2006/relationships/slide" Target="/ppt/slides/slide13.xml" Id="R60a501f052e341ee" /><Relationship Type="http://schemas.openxmlformats.org/officeDocument/2006/relationships/slide" Target="/ppt/slides/slide14.xml" Id="R45742a4155534012" /><Relationship Type="http://schemas.openxmlformats.org/officeDocument/2006/relationships/slide" Target="/ppt/slides/slide15.xml" Id="Rfce93a1a2c024c85" /><Relationship Type="http://schemas.openxmlformats.org/officeDocument/2006/relationships/slide" Target="/ppt/slides/slide16.xml" Id="R0cc13faf60f741ef" /><Relationship Type="http://schemas.openxmlformats.org/officeDocument/2006/relationships/slide" Target="/ppt/slides/slide17.xml" Id="Ra956e404c9c24b1a" /><Relationship Type="http://schemas.openxmlformats.org/officeDocument/2006/relationships/slide" Target="/ppt/slides/slide18.xml" Id="R7edfece4fdf64da0" /><Relationship Type="http://schemas.openxmlformats.org/officeDocument/2006/relationships/slide" Target="/ppt/slides/slide19.xml" Id="R07f90bda4f2646d1" /><Relationship Type="http://schemas.openxmlformats.org/officeDocument/2006/relationships/slide" Target="/ppt/slides/slide20.xml" Id="R379a9b8ed7224b1d" /><Relationship Type="http://schemas.openxmlformats.org/officeDocument/2006/relationships/slide" Target="/ppt/slides/slide21.xml" Id="R3803704555f84007" /><Relationship Type="http://schemas.openxmlformats.org/officeDocument/2006/relationships/slide" Target="/ppt/slides/slide22.xml" Id="Rf1042af4bbe4476c" /><Relationship Type="http://schemas.openxmlformats.org/officeDocument/2006/relationships/slide" Target="/ppt/slides/slide23.xml" Id="R346292ed5aab45c7" /><Relationship Type="http://schemas.openxmlformats.org/officeDocument/2006/relationships/slide" Target="/ppt/slides/slide24.xml" Id="R81cbe4376dfc4f3d" /><Relationship Type="http://schemas.openxmlformats.org/officeDocument/2006/relationships/slide" Target="/ppt/slides/slide25.xml" Id="Rec9fc58508ca47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1fce44e849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6a5f691a4e4f16" /><Relationship Type="http://schemas.openxmlformats.org/officeDocument/2006/relationships/notesMaster" Target="/ppt/notesMasters/notesMaster1.xml" Id="Rf43ffb9548c444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0666dddb8d4eb3" /><Relationship Type="http://schemas.openxmlformats.org/officeDocument/2006/relationships/notesMaster" Target="/ppt/notesMasters/notesMaster1.xml" Id="R7e86d777468f40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a3fbfeb3474823" /><Relationship Type="http://schemas.openxmlformats.org/officeDocument/2006/relationships/notesMaster" Target="/ppt/notesMasters/notesMaster1.xml" Id="Rf16a81bb848248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f242719c314a8d" /><Relationship Type="http://schemas.openxmlformats.org/officeDocument/2006/relationships/notesMaster" Target="/ppt/notesMasters/notesMaster1.xml" Id="R65798e726bfd43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bf735c9621458b" /><Relationship Type="http://schemas.openxmlformats.org/officeDocument/2006/relationships/notesMaster" Target="/ppt/notesMasters/notesMaster1.xml" Id="Rc9eb96d2a46f48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fa4ec583264855" /><Relationship Type="http://schemas.openxmlformats.org/officeDocument/2006/relationships/notesMaster" Target="/ppt/notesMasters/notesMaster1.xml" Id="R87550b20ef344e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6a128b10bf492d" /><Relationship Type="http://schemas.openxmlformats.org/officeDocument/2006/relationships/notesMaster" Target="/ppt/notesMasters/notesMaster1.xml" Id="Rc443746b882848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9ed8f200824e74" /><Relationship Type="http://schemas.openxmlformats.org/officeDocument/2006/relationships/notesMaster" Target="/ppt/notesMasters/notesMaster1.xml" Id="R8b6ab544065144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361f1c1a474643" /><Relationship Type="http://schemas.openxmlformats.org/officeDocument/2006/relationships/notesMaster" Target="/ppt/notesMasters/notesMaster1.xml" Id="R39b963d1f60b4c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3de62da4d4418" /><Relationship Type="http://schemas.openxmlformats.org/officeDocument/2006/relationships/notesMaster" Target="/ppt/notesMasters/notesMaster1.xml" Id="R6113cb0a824042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16d64b9ecb4c24" /><Relationship Type="http://schemas.openxmlformats.org/officeDocument/2006/relationships/notesMaster" Target="/ppt/notesMasters/notesMaster1.xml" Id="R9bc4ccc0b9614c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139f066ce74366" /><Relationship Type="http://schemas.openxmlformats.org/officeDocument/2006/relationships/notesMaster" Target="/ppt/notesMasters/notesMaster1.xml" Id="Ra886c9b53e7b4a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0400d667da4702" /><Relationship Type="http://schemas.openxmlformats.org/officeDocument/2006/relationships/notesMaster" Target="/ppt/notesMasters/notesMaster1.xml" Id="R6bc32939d4eb47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aedcc172e44c6e" /><Relationship Type="http://schemas.openxmlformats.org/officeDocument/2006/relationships/notesMaster" Target="/ppt/notesMasters/notesMaster1.xml" Id="Ra4990ab2c69d4a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fef6a6fb484785" /><Relationship Type="http://schemas.openxmlformats.org/officeDocument/2006/relationships/notesMaster" Target="/ppt/notesMasters/notesMaster1.xml" Id="Rdc37421f1d4d4f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de5219956d4d12" /><Relationship Type="http://schemas.openxmlformats.org/officeDocument/2006/relationships/notesMaster" Target="/ppt/notesMasters/notesMaster1.xml" Id="Rd13f602889c242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06d26c1c3a4526" /><Relationship Type="http://schemas.openxmlformats.org/officeDocument/2006/relationships/notesMaster" Target="/ppt/notesMasters/notesMaster1.xml" Id="R5c54be9122d84c8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4d2d20d26446d9" /><Relationship Type="http://schemas.openxmlformats.org/officeDocument/2006/relationships/notesMaster" Target="/ppt/notesMasters/notesMaster1.xml" Id="R1797db9042de4a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92c2e3593f4498" /><Relationship Type="http://schemas.openxmlformats.org/officeDocument/2006/relationships/notesMaster" Target="/ppt/notesMasters/notesMaster1.xml" Id="R1c5f04dcb6b845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66f418d20a4ce0" /><Relationship Type="http://schemas.openxmlformats.org/officeDocument/2006/relationships/notesMaster" Target="/ppt/notesMasters/notesMaster1.xml" Id="R9e591c63a5f84d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fead121615842d3" /><Relationship Type="http://schemas.openxmlformats.org/officeDocument/2006/relationships/notesMaster" Target="/ppt/notesMasters/notesMaster1.xml" Id="R07ae553bd8c14a4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20f40a3b75f4599" /><Relationship Type="http://schemas.openxmlformats.org/officeDocument/2006/relationships/notesMaster" Target="/ppt/notesMasters/notesMaster1.xml" Id="Ra2ee2d476c754e7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ff65a1e854c43ab" /><Relationship Type="http://schemas.openxmlformats.org/officeDocument/2006/relationships/notesMaster" Target="/ppt/notesMasters/notesMaster1.xml" Id="Rb2194f8fba6d47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110c6a0df6241b5" /><Relationship Type="http://schemas.openxmlformats.org/officeDocument/2006/relationships/notesMaster" Target="/ppt/notesMasters/notesMaster1.xml" Id="Rcffa8af89a55416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7d82990d9d94124" /><Relationship Type="http://schemas.openxmlformats.org/officeDocument/2006/relationships/notesMaster" Target="/ppt/notesMasters/notesMaster1.xml" Id="Rdddcda09626f42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one continuous body of work. The presentation separates completed evaluations from open objectives.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project presentation; current project workspace.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generated image is an illustration. The objective includes recognition, intent and safe action. Only measured modules are described as implemented later.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project presentation pp. 4–6; supplied NeuroSAFE report pp. 1–2.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implemented research and software prototype from unmeasured real-world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README.md; reports/phase1_continuation_fresh_test_and_assistant.md.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Audio commands always require confirmation because ASR confidence is not calibrated. The simulated receipt does not execute a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scripts/assistant_core.py; reports/phase1_continuation_fresh_test_and_assistant.md.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diagram separates the retained audio-only ASR path from the exploratory articulatory branch.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reports/asr_aai_ablation_pilot.md; reports/aai_improvement_round2.md.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 inventory snapshots before comparing their numbers. The current workspace and supplied report use different preparation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NeuroSAFE report pp. 2–5; reports/phase1_data_and_baseline.md; data/results/new_recordings/summary.json.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Written prompts are project scoring targets, not independently verified verbatim transcripts. Audit flags are triage, not automatic exclusions.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reports/phase1_data_and_baseline.md; reports/data_audit_round1.md.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strict run removes test-speaker prompts from training but also reduces the training pool. Fresh multiword clips were opened only after checkpoint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NeuroSAFE report pp. 9–10; reports/asr_aai_ablation_pilot.md; reports/long_recording_evaluation.md; reports/phase1_continuation_fresh_test_and_assistant.md.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before model charts. Lower WER is better. The written prompt may not perfectly match what the speaker said.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NeuroSAFE report pp. 5–7; reports/phase1_data_and_baseline.md.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five models were evaluated without training on the supplied report’s 3,077 dysarthric recordings. The table reports WER by severity. Whisper-small is selected for adaptation because it leads overall, not every severity group.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NeuroSAFE report p.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overall gain for shared prompts is statistically significant and all eight speakers improved there. With new prompts, severe speakers still improved but the total gain was much smaller.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NeuroSAFE report pp. 8–13.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on 1,541 recordings in a fixed test half. The 95% paired interval for the overall gain is 2.0 to 6.1 points. F01 had only 2.2 minutes available at the nominal 5-minute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NeuroSAFE report pp. 10,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four variants were scored on exactly the same 280 test clips and 423 prompt words. The M0 setup here differs from the earlier five-model baseline and is not numerically comparable to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reports/asr_aai_ablation_pilot.md.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M0 has WER above 100% because some one-word prompts triggered repeated output. M1 reduced 539 errors to 202; M2 had 203 and M3 204. The AAI differences are too small to claim a 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reports/asr_aai_ablation_pilot.md.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MOCHA baseline predicts 14 channels from seven articulators. The TORGO transfer experiment maps six articulators to 12 coordinates and masks bad coils per channel.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reports/mocha_aai_baseline.md; reports/torgo_mocha_transfer_round1.md.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0.213 gain over 0.198 is modest but its descriptive bootstrap interval is positive. MOCHA weight transfer and temporal alternatives did not improve meaningfully.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reports/aai_improvement_round2.md.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scientific ablation decision. The M2/M3 models were built and evaluated, but no ASR benefit was demonstrated.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reports/asr_aai_ablation_pilot.md; reports/aai_improvement_round2.md.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baseline versus early LoRA comparison is paired but its descriptive interval includes no improvement. The broader-prompt model used rank-8 LoRA and validation-selected checkpoints. This set had been inspected over multiple development rounds.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reports/long_recording_evaluation.md; reports/whisper_full_prompt_round3.md.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39.8% total WER is the best aggregate on this selected test, but nearly all improvement over early LoRA comes from a single catastrophic insertion loop. Do not claim broad generalisation from the 10.3-point total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reports/whisper_full_prompt_round3.md.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new selected adapter saved nine errors, 90 to 81 out of 274 target words. Only nine clips exceed six seconds, so this is a fresh multiword test, not a balanced long-recording test. M04 worsened slightly.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reports/phase1_continuation_fresh_test_and_assistant.md.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There is no real call, message, delete or device connector. The safety behaviour is implemented in a local simulator.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scripts/assistant_core.py; reports/phase1_continuation_fresh_test_and_assistant.md.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single local live clip had four target words and four prompt errors; no intent matched and no action ran. Do not treat a one-clip smoke test as dysarthric-user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reports/phase1_continuation_fresh_test_and_assistant.md; data/results/new_recordings/summary.json.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target is an acceptance criterion, not a completed result. Warm ASR or WAV-to-decision timing is not end-to-end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Supplied project presentation p. 28; reports/aai_improvement_round2.md; reports/phase1_continuation_fresh_test_and_assistant.md.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clear claim of progress and explicit remaining evidence. The data are promising for adaptation but do not yet prove a dependable assistant.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All project experiment reports; supplied NeuroSAFE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numerical claims are tied to the cited supplied report or workspace experiment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3bd5d44d1243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21cd4037b4d3b" /><Relationship Type="http://schemas.openxmlformats.org/officeDocument/2006/relationships/image" Target="/ppt/media/image.jpeg" Id="R8583f4423d5e49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eceda1c3dd40d8" /><Relationship Type="http://schemas.openxmlformats.org/officeDocument/2006/relationships/image" Target="/ppt/media/image.jpeg" Id="R5421a18c6b0a46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64a754c534f47" /><Relationship Type="http://schemas.openxmlformats.org/officeDocument/2006/relationships/image" Target="/ppt/media/image.jpeg" Id="R6f0b0859aecc44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a72ce0f6644e4" /><Relationship Type="http://schemas.openxmlformats.org/officeDocument/2006/relationships/image" Target="/ppt/media/image.jpeg" Id="R29113ca5b5fc4c8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bbb916e4c4bed" /><Relationship Type="http://schemas.openxmlformats.org/officeDocument/2006/relationships/image" Target="/ppt/media/image.jpeg" Id="R197d25818e87442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bc99adf3da4431" /><Relationship Type="http://schemas.openxmlformats.org/officeDocument/2006/relationships/image" Target="/ppt/media/image.jpeg" Id="Rc51494a31c444cd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fa851b7e414e61" /><Relationship Type="http://schemas.openxmlformats.org/officeDocument/2006/relationships/image" Target="/ppt/media/image.jpeg" Id="R8852e27d786a4ec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c0bcbc6054b8f" /><Relationship Type="http://schemas.openxmlformats.org/officeDocument/2006/relationships/image" Target="/ppt/media/image.jpeg" Id="Rcda5bcb24576460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7c161c9ec04338" /></Relationships>
</file>

<file path=ppt/slideLayouts/slideLayout1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 Text">
            <a:extLst xmlns:a="http://schemas.openxmlformats.org/drawingml/2006/main">
              <a:ext uri="{FF2B5EF4-FFF2-40B4-BE49-F238E27FC236}">
                <a16:creationId xmlns:a16="http://schemas.microsoft.com/office/drawing/2014/main" id="{A4907929-759C-479C-8087-035E7C8448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15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B5538F30-FF15-46AD-AFFB-1A70322C9A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0ABEE76-4369-4E5F-90E2-2ABC64652A8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89D0E278-E372-4F0F-A596-C87D922D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pic>
        <p:nvPicPr>
          <p:cNvPr id="24" name="collegelogo">
            <a:extLst xmlns:a="http://schemas.openxmlformats.org/drawingml/2006/main">
              <a:ext uri="{FF2B5EF4-FFF2-40B4-BE49-F238E27FC236}">
                <a16:creationId xmlns:a16="http://schemas.microsoft.com/office/drawing/2014/main" id="{8EB939CD-8B1D-440E-8149-9CD8E61896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3f4423d5e49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76200"/>
            <a:ext cx="792163" cy="914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F43B2A9-5BC5-46C8-916D-C9E7A7D3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sp>
        <p:nvSpPr>
          <p:cNvPr id="26" name="Title Text">
            <a:extLst xmlns:a="http://schemas.openxmlformats.org/drawingml/2006/main">
              <a:ext uri="{FF2B5EF4-FFF2-40B4-BE49-F238E27FC236}">
                <a16:creationId xmlns:a16="http://schemas.microsoft.com/office/drawing/2014/main" id="{AAD7FD84-237E-43A6-92F0-8B208CD7D6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27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A5A4B1EF-3BCC-447C-8D3B-3CA8A03A5F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2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184953C-DB88-43AD-8A0E-D3A429ABB3F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CB88702A-F1A3-4A1A-9D43-E8F30329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pic>
        <p:nvPicPr>
          <p:cNvPr id="36" name="collegelogo">
            <a:extLst xmlns:a="http://schemas.openxmlformats.org/drawingml/2006/main">
              <a:ext uri="{FF2B5EF4-FFF2-40B4-BE49-F238E27FC236}">
                <a16:creationId xmlns:a16="http://schemas.microsoft.com/office/drawing/2014/main" id="{2D8ED01E-9611-4D96-A7AD-98C96B04D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1a18c6b0a4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76200"/>
            <a:ext cx="792163" cy="914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BCA8BCDA-46FD-48A4-AEA9-A601EA3E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sp>
        <p:nvSpPr>
          <p:cNvPr id="38" name="Title Text">
            <a:extLst xmlns:a="http://schemas.openxmlformats.org/drawingml/2006/main">
              <a:ext uri="{FF2B5EF4-FFF2-40B4-BE49-F238E27FC236}">
                <a16:creationId xmlns:a16="http://schemas.microsoft.com/office/drawing/2014/main" id="{FE94CC46-84BE-4825-ADF5-CE2154FCA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39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0E65CF41-AC90-48E8-B98C-31D3A08F1F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0BE33E3-F1D2-408F-A829-3D9674D78AF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D9B41DBB-A4A5-41F1-9F89-8EA26C6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pic>
        <p:nvPicPr>
          <p:cNvPr id="48" name="collegelogo">
            <a:extLst xmlns:a="http://schemas.openxmlformats.org/drawingml/2006/main">
              <a:ext uri="{FF2B5EF4-FFF2-40B4-BE49-F238E27FC236}">
                <a16:creationId xmlns:a16="http://schemas.microsoft.com/office/drawing/2014/main" id="{0745EB13-898E-40E5-B579-223040DC7D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b0859aecc44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76200"/>
            <a:ext cx="792163" cy="914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FF4AA207-3B6F-452A-9507-B8202292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sp>
        <p:nvSpPr>
          <p:cNvPr id="50" name="Title Text">
            <a:extLst xmlns:a="http://schemas.openxmlformats.org/drawingml/2006/main">
              <a:ext uri="{FF2B5EF4-FFF2-40B4-BE49-F238E27FC236}">
                <a16:creationId xmlns:a16="http://schemas.microsoft.com/office/drawing/2014/main" id="{61B86EF0-54AE-4B0C-8290-53E09A898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5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5A1AA91-88B4-4647-8C22-0A2C441C1C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5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3BC634F-9723-4C06-9BD7-68A25BB3A256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1346AEF-0A52-420D-86C0-2A994F8D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pic>
        <p:nvPicPr>
          <p:cNvPr id="60" name="collegelogo">
            <a:extLst xmlns:a="http://schemas.openxmlformats.org/drawingml/2006/main">
              <a:ext uri="{FF2B5EF4-FFF2-40B4-BE49-F238E27FC236}">
                <a16:creationId xmlns:a16="http://schemas.microsoft.com/office/drawing/2014/main" id="{FBDC0CA8-FDCE-400D-A911-FF9F8F0E50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13ca5b5fc4c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76200"/>
            <a:ext cx="792163" cy="914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6502ADE1-6DDB-4ACE-8257-C5B2C447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sp>
        <p:nvSpPr>
          <p:cNvPr id="62" name="Title Text">
            <a:extLst xmlns:a="http://schemas.openxmlformats.org/drawingml/2006/main">
              <a:ext uri="{FF2B5EF4-FFF2-40B4-BE49-F238E27FC236}">
                <a16:creationId xmlns:a16="http://schemas.microsoft.com/office/drawing/2014/main" id="{3A86C310-384C-48B5-8E82-DCFE25C39E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6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86AF47AF-640A-455E-B17F-6C68298A8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6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E81BCE2-3E7B-4322-BB26-DD45A5026D0D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99983722-785E-4417-930A-D93E7C8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pic>
        <p:nvPicPr>
          <p:cNvPr id="72" name="collegelogo">
            <a:extLst xmlns:a="http://schemas.openxmlformats.org/drawingml/2006/main">
              <a:ext uri="{FF2B5EF4-FFF2-40B4-BE49-F238E27FC236}">
                <a16:creationId xmlns:a16="http://schemas.microsoft.com/office/drawing/2014/main" id="{F925CDAC-4697-4A6F-90D0-93C0B1D075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7d25818e8744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76200"/>
            <a:ext cx="792163" cy="914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EAE0D546-626B-48A3-B785-B7935917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sp>
        <p:nvSpPr>
          <p:cNvPr id="74" name="Title Text">
            <a:extLst xmlns:a="http://schemas.openxmlformats.org/drawingml/2006/main">
              <a:ext uri="{FF2B5EF4-FFF2-40B4-BE49-F238E27FC236}">
                <a16:creationId xmlns:a16="http://schemas.microsoft.com/office/drawing/2014/main" id="{528F3565-82E8-4C8A-BD0A-43A449A927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75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F7D89B6E-2F17-4085-8AD6-D6FE279BE3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7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0137156-7528-4601-86B3-D6B02EA9C20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53E3B5F7-5717-4047-B122-1E4A4F49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pic>
        <p:nvPicPr>
          <p:cNvPr id="84" name="collegelogo">
            <a:extLst xmlns:a="http://schemas.openxmlformats.org/drawingml/2006/main">
              <a:ext uri="{FF2B5EF4-FFF2-40B4-BE49-F238E27FC236}">
                <a16:creationId xmlns:a16="http://schemas.microsoft.com/office/drawing/2014/main" id="{B33BD6FA-FF08-493B-8AD8-0CF23C25E2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494a31c444c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76200"/>
            <a:ext cx="792163" cy="914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0F7CEFC9-526A-456E-BC56-908D0F63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sp>
        <p:nvSpPr>
          <p:cNvPr id="86" name="Title Text">
            <a:extLst xmlns:a="http://schemas.openxmlformats.org/drawingml/2006/main">
              <a:ext uri="{FF2B5EF4-FFF2-40B4-BE49-F238E27FC236}">
                <a16:creationId xmlns:a16="http://schemas.microsoft.com/office/drawing/2014/main" id="{FD1559A5-FE9B-4504-8E24-C80FA9C1AA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87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78B6739F-A6E6-40AD-9BCE-87A705734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8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B23D821-BD68-458F-B135-8BFBD35327E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5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BC0145C6-A570-4583-AEB8-C7D815FB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pic>
        <p:nvPicPr>
          <p:cNvPr id="96" name="collegelogo">
            <a:extLst xmlns:a="http://schemas.openxmlformats.org/drawingml/2006/main">
              <a:ext uri="{FF2B5EF4-FFF2-40B4-BE49-F238E27FC236}">
                <a16:creationId xmlns:a16="http://schemas.microsoft.com/office/drawing/2014/main" id="{3E205DF5-E47F-4EE8-BC14-FB38DD6A09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2e27d786a4e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76200"/>
            <a:ext cx="792163" cy="914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97" name="Text">
            <a:extLst xmlns:a="http://schemas.openxmlformats.org/drawingml/2006/main">
              <a:ext uri="{FF2B5EF4-FFF2-40B4-BE49-F238E27FC236}">
                <a16:creationId xmlns:a16="http://schemas.microsoft.com/office/drawing/2014/main" id="{8F7F91B9-FC78-4A02-A4DB-42A2C99A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sp>
        <p:nvSpPr>
          <p:cNvPr id="98" name="Title Text">
            <a:extLst xmlns:a="http://schemas.openxmlformats.org/drawingml/2006/main">
              <a:ext uri="{FF2B5EF4-FFF2-40B4-BE49-F238E27FC236}">
                <a16:creationId xmlns:a16="http://schemas.microsoft.com/office/drawing/2014/main" id="{ADC3764D-3420-43FE-9696-23A005568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99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9356087F-F669-4F48-BCF1-0B378E32B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10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F7BDC56-A962-463A-AB59-2FB754FB756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2244539E-86F7-432A-B5F8-E2114E98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pic>
        <p:nvPicPr>
          <p:cNvPr id="108" name="collegelogo">
            <a:extLst xmlns:a="http://schemas.openxmlformats.org/drawingml/2006/main">
              <a:ext uri="{FF2B5EF4-FFF2-40B4-BE49-F238E27FC236}">
                <a16:creationId xmlns:a16="http://schemas.microsoft.com/office/drawing/2014/main" id="{6514C489-682F-45DB-A064-8BC449CEDE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5bcb2457646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76200"/>
            <a:ext cx="792163" cy="9144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109" name="Text">
            <a:extLst xmlns:a="http://schemas.openxmlformats.org/drawingml/2006/main">
              <a:ext uri="{FF2B5EF4-FFF2-40B4-BE49-F238E27FC236}">
                <a16:creationId xmlns:a16="http://schemas.microsoft.com/office/drawing/2014/main" id="{90D24471-A444-41C0-A2B3-62B8D20C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sp>
        <p:nvSpPr>
          <p:cNvPr id="110" name="Title Text">
            <a:extLst xmlns:a="http://schemas.openxmlformats.org/drawingml/2006/main">
              <a:ext uri="{FF2B5EF4-FFF2-40B4-BE49-F238E27FC236}">
                <a16:creationId xmlns:a16="http://schemas.microsoft.com/office/drawing/2014/main" id="{6346316F-D9A2-4946-A5F6-6B973898D2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90600" y="1371600"/>
            <a:ext cx="6858000" cy="808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111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67FD6BE3-B956-4101-9E94-44465E304A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14400" y="2362200"/>
            <a:ext cx="7315200" cy="3763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1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4D87E13-D90B-4B29-82D2-5062241BFC92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Defaul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CDFE209-44B2-4E58-BAA5-2AF3DF2F7DF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120" name="Title Text">
            <a:extLst xmlns:a="http://schemas.openxmlformats.org/drawingml/2006/main">
              <a:ext uri="{FF2B5EF4-FFF2-40B4-BE49-F238E27FC236}">
                <a16:creationId xmlns:a16="http://schemas.microsoft.com/office/drawing/2014/main" id="{622C1C57-71B8-4579-86B6-C62CA86F02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19420c38b00428b" /><Relationship Type="http://schemas.openxmlformats.org/officeDocument/2006/relationships/theme" Target="/ppt/slideMasters/theme/theme2.xml" Id="Rc39fc924ecd944e7" /><Relationship Type="http://schemas.openxmlformats.org/officeDocument/2006/relationships/slideLayout" Target="/ppt/slideLayouts/slideLayout1.xml" Id="Rae1358fb12f64f97" /><Relationship Type="http://schemas.openxmlformats.org/officeDocument/2006/relationships/slideLayout" Target="/ppt/slideLayouts/slideLayout2.xml" Id="R3587ae1d18de4b23" /><Relationship Type="http://schemas.openxmlformats.org/officeDocument/2006/relationships/slideLayout" Target="/ppt/slideLayouts/slideLayout3.xml" Id="Rf847dc8f347b4aed" /><Relationship Type="http://schemas.openxmlformats.org/officeDocument/2006/relationships/slideLayout" Target="/ppt/slideLayouts/slideLayout4.xml" Id="R8b7820decfce446d" /><Relationship Type="http://schemas.openxmlformats.org/officeDocument/2006/relationships/slideLayout" Target="/ppt/slideLayouts/slideLayout5.xml" Id="Rd9c1a5ef23af4075" /><Relationship Type="http://schemas.openxmlformats.org/officeDocument/2006/relationships/slideLayout" Target="/ppt/slideLayouts/slideLayout6.xml" Id="R00824bae0b5c4782" /><Relationship Type="http://schemas.openxmlformats.org/officeDocument/2006/relationships/slideLayout" Target="/ppt/slideLayouts/slideLayout7.xml" Id="Re105fe5287454e3b" /><Relationship Type="http://schemas.openxmlformats.org/officeDocument/2006/relationships/slideLayout" Target="/ppt/slideLayouts/slideLayout8.xml" Id="R2c4863eae0324b67" /><Relationship Type="http://schemas.openxmlformats.org/officeDocument/2006/relationships/slideLayout" Target="/ppt/slideLayouts/slideLayout9.xml" Id="Ra15e57a440524319" /><Relationship Type="http://schemas.openxmlformats.org/officeDocument/2006/relationships/slideLayout" Target="/ppt/slideLayouts/slideLayout10.xml" Id="Rc464753c2eba456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ed Rectangle">
            <a:extLst xmlns:a="http://schemas.openxmlformats.org/drawingml/2006/main">
              <a:ext uri="{FF2B5EF4-FFF2-40B4-BE49-F238E27FC236}">
                <a16:creationId xmlns:a16="http://schemas.microsoft.com/office/drawing/2014/main" id="{3ECA4F84-79B0-4F19-B184-CEDD376E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8458200" cy="5181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699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 algn="ctr">
              <a:buNone/>
              <a:defRPr sz="2800">
                <a:solidFill>
                  <a:srgbClr val="0000FF"/>
                </a:solidFill>
                <a:latin typeface="+mn-lt"/>
                <a:ea typeface="+mn-lt"/>
                <a:cs typeface="+mn-lt"/>
              </a:defRPr>
            </a:pPr>
            <a:endParaRPr/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9A4EC9B-BB49-4FA9-BE19-A73D4C06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19" y="304800"/>
            <a:ext cx="6918961" cy="350662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>
            <a:spAutoFit/>
          </a:bodyPr>
          <a:lstStyle xmlns:a="http://schemas.openxmlformats.org/drawingml/2006/main">
            <a:lvl1pPr>
              <a:buNone/>
              <a:defRPr sz="1800" b="1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                       </a:t>
            </a:r>
          </a:p>
        </p:txBody>
      </p:sp>
      <p:pic>
        <p:nvPicPr>
          <p:cNvPr id="4" name="image.png">
            <a:extLst xmlns:a="http://schemas.openxmlformats.org/drawingml/2006/main">
              <a:ext uri="{FF2B5EF4-FFF2-40B4-BE49-F238E27FC236}">
                <a16:creationId xmlns:a16="http://schemas.microsoft.com/office/drawing/2014/main" id="{4D1A0682-C663-4A3E-85FF-34106A5249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420c38b0042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8100"/>
            <a:ext cx="1104900" cy="110490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626BDB9-E9C8-46F6-A6E5-A83059CFCF21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308692" y="381000"/>
            <a:ext cx="301909" cy="288824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wrap="none" lIns="45719" rIns="45719">
            <a:spAutoFit/>
          </a:bodyPr>
          <a:lstStyle xmlns:a="http://schemas.openxmlformats.org/drawingml/2006/main">
            <a:lvl1pPr algn="r"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>
            <a:extLst xmlns:a="http://schemas.openxmlformats.org/drawingml/2006/main">
              <a:ext uri="{FF2B5EF4-FFF2-40B4-BE49-F238E27FC236}">
                <a16:creationId xmlns:a16="http://schemas.microsoft.com/office/drawing/2014/main" id="{980B6270-29B0-4DF3-AB53-56FF81229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92074"/>
            <a:ext cx="8229600" cy="1508126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7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68B51DFF-96F2-44C0-889C-8AC4F7569C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1358fb12f64f97"/>
    <p:sldLayoutId xmlns:r="http://schemas.openxmlformats.org/officeDocument/2006/relationships" id="2147483650" r:id="R3587ae1d18de4b23"/>
    <p:sldLayoutId xmlns:r="http://schemas.openxmlformats.org/officeDocument/2006/relationships" id="2147483651" r:id="Rf847dc8f347b4aed"/>
    <p:sldLayoutId xmlns:r="http://schemas.openxmlformats.org/officeDocument/2006/relationships" id="2147483652" r:id="R8b7820decfce446d"/>
    <p:sldLayoutId xmlns:r="http://schemas.openxmlformats.org/officeDocument/2006/relationships" id="2147483653" r:id="Rd9c1a5ef23af4075"/>
    <p:sldLayoutId xmlns:r="http://schemas.openxmlformats.org/officeDocument/2006/relationships" id="2147483654" r:id="R00824bae0b5c4782"/>
    <p:sldLayoutId xmlns:r="http://schemas.openxmlformats.org/officeDocument/2006/relationships" id="2147483655" r:id="Re105fe5287454e3b"/>
    <p:sldLayoutId xmlns:r="http://schemas.openxmlformats.org/officeDocument/2006/relationships" id="2147483656" r:id="R2c4863eae0324b67"/>
    <p:sldLayoutId xmlns:r="http://schemas.openxmlformats.org/officeDocument/2006/relationships" id="2147483657" r:id="Ra15e57a440524319"/>
    <p:sldLayoutId xmlns:r="http://schemas.openxmlformats.org/officeDocument/2006/relationships" id="2147483658" r:id="Rc464753c2eba4565"/>
  </p:sldLayoutIdLst>
  <p:hf hdr="0" dt="0"/>
  <p:txStyles>
    <p:titleStyle>
      <a:lvl1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4572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9144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13716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1828800" algn="ct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8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titleStyle>
    <p:bodyStyle>
      <a:lvl1pPr xmlns:a="http://schemas.openxmlformats.org/drawingml/2006/main" marL="342900" marR="0" indent="-342900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661307" marR="0" indent="-204107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1200150" marR="0" indent="-285750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1600200" marR="0" indent="-228600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2082800" marR="0" indent="-254000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2540000" marR="0" indent="-254000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None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2997200" marR="0" indent="-254000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None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3454400" marR="0" indent="-254000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None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3911600" marR="0" indent="-254000" algn="l" defTabSz="91440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None/>
        <a:defRPr sz="20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4572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9144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13716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82880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0" algn="r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6595d252ceb4fe1" /><Relationship Type="http://schemas.openxmlformats.org/officeDocument/2006/relationships/notesSlide" Target="/ppt/notesSlides/notesSlide1.xml" Id="R850a84de5a6344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4cef46e976d44c06" /><Relationship Type="http://schemas.openxmlformats.org/officeDocument/2006/relationships/image" Target="/ppt/media/image2.png" Id="Rb4a719f661714561" /><Relationship Type="http://schemas.openxmlformats.org/officeDocument/2006/relationships/notesSlide" Target="/ppt/notesSlides/notesSlide2.xml" Id="R23e089dd291a44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a829125d2df48f4" /><Relationship Type="http://schemas.openxmlformats.org/officeDocument/2006/relationships/notesSlide" Target="/ppt/notesSlides/notesSlide3.xml" Id="R14793399b05248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f8b0f434428c4dc3" /><Relationship Type="http://schemas.openxmlformats.org/officeDocument/2006/relationships/notesSlide" Target="/ppt/notesSlides/notesSlide4.xml" Id="R421188cae0b048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244733889cc474a" /><Relationship Type="http://schemas.openxmlformats.org/officeDocument/2006/relationships/notesSlide" Target="/ppt/notesSlides/notesSlide5.xml" Id="R84cebf3d3f204c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b790d1fc8ef74298" /><Relationship Type="http://schemas.openxmlformats.org/officeDocument/2006/relationships/notesSlide" Target="/ppt/notesSlides/notesSlide6.xml" Id="R93d4a239757648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8c52233ac1c14ad1" /><Relationship Type="http://schemas.openxmlformats.org/officeDocument/2006/relationships/notesSlide" Target="/ppt/notesSlides/notesSlide7.xml" Id="R4d7aaee8d5e24a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655f160f4f04144" /><Relationship Type="http://schemas.openxmlformats.org/officeDocument/2006/relationships/notesSlide" Target="/ppt/notesSlides/notesSlide8.xml" Id="R573264b4f79042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5f81fbc8ea94fc0" /><Relationship Type="http://schemas.openxmlformats.org/officeDocument/2006/relationships/notesSlide" Target="/ppt/notesSlides/notesSlide9.xml" Id="Rea42b90920394e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dad37efeb454b2c" /><Relationship Type="http://schemas.openxmlformats.org/officeDocument/2006/relationships/notesSlide" Target="/ppt/notesSlides/notesSlide10.xml" Id="Rc700401e4abc4f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486268fb8ed4038" /><Relationship Type="http://schemas.openxmlformats.org/officeDocument/2006/relationships/chart" Target="/ppt/slides/charts/chart1.xml" Id="R807a4891dbb141c1" /><Relationship Type="http://schemas.openxmlformats.org/officeDocument/2006/relationships/notesSlide" Target="/ppt/notesSlides/notesSlide11.xml" Id="Rf7de64c478814e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3841f93849d54f16" /><Relationship Type="http://schemas.openxmlformats.org/officeDocument/2006/relationships/chart" Target="/ppt/slides/charts/chart2.xml" Id="R1d78930507244f15" /><Relationship Type="http://schemas.openxmlformats.org/officeDocument/2006/relationships/notesSlide" Target="/ppt/notesSlides/notesSlide12.xml" Id="R506eb7ebbe4445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52ae10483634d09" /><Relationship Type="http://schemas.openxmlformats.org/officeDocument/2006/relationships/notesSlide" Target="/ppt/notesSlides/notesSlide13.xml" Id="Rb702ea918fac45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069db49756254c50" /><Relationship Type="http://schemas.openxmlformats.org/officeDocument/2006/relationships/chart" Target="/ppt/slides/charts/chart3.xml" Id="Rc604aec86e4344d4" /><Relationship Type="http://schemas.openxmlformats.org/officeDocument/2006/relationships/notesSlide" Target="/ppt/notesSlides/notesSlide14.xml" Id="R579427906f6e49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e6f25d94fd24aae" /><Relationship Type="http://schemas.openxmlformats.org/officeDocument/2006/relationships/notesSlide" Target="/ppt/notesSlides/notesSlide15.xml" Id="Rcc65148cadd84f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3278a54bf2d478b" /><Relationship Type="http://schemas.openxmlformats.org/officeDocument/2006/relationships/notesSlide" Target="/ppt/notesSlides/notesSlide16.xml" Id="R6091cff9d4f345b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6161fa98a0534cc0" /><Relationship Type="http://schemas.openxmlformats.org/officeDocument/2006/relationships/notesSlide" Target="/ppt/notesSlides/notesSlide17.xml" Id="R24b9a3fb30dd42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209b194dd1b42b6" /><Relationship Type="http://schemas.openxmlformats.org/officeDocument/2006/relationships/chart" Target="/ppt/slides/charts/chart4.xml" Id="R7e06d858541541b3" /><Relationship Type="http://schemas.openxmlformats.org/officeDocument/2006/relationships/notesSlide" Target="/ppt/notesSlides/notesSlide18.xml" Id="Rce7683fdd7894e8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ed60e40bf744a05" /><Relationship Type="http://schemas.openxmlformats.org/officeDocument/2006/relationships/notesSlide" Target="/ppt/notesSlides/notesSlide19.xml" Id="Rfad5ec71235242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cce5d114556408e" /><Relationship Type="http://schemas.openxmlformats.org/officeDocument/2006/relationships/chart" Target="/ppt/slides/charts/chart5.xml" Id="R3fb41a59aecd4d9f" /><Relationship Type="http://schemas.openxmlformats.org/officeDocument/2006/relationships/notesSlide" Target="/ppt/notesSlides/notesSlide20.xml" Id="R138376d02297465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e302d9eba04b4c89" /><Relationship Type="http://schemas.openxmlformats.org/officeDocument/2006/relationships/notesSlide" Target="/ppt/notesSlides/notesSlide21.xml" Id="R3d42125891af47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c3311e25b25848f7" /><Relationship Type="http://schemas.openxmlformats.org/officeDocument/2006/relationships/notesSlide" Target="/ppt/notesSlides/notesSlide22.xml" Id="R5c6c151da72e4e3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118df33e2a284b5e" /><Relationship Type="http://schemas.openxmlformats.org/officeDocument/2006/relationships/notesSlide" Target="/ppt/notesSlides/notesSlide23.xml" Id="R3c010444ae6c420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281eb9fedf1e41f1" /><Relationship Type="http://schemas.openxmlformats.org/officeDocument/2006/relationships/notesSlide" Target="/ppt/notesSlides/notesSlide24.xml" Id="R5b51db5796144d1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925b949e6881496c" /><Relationship Type="http://schemas.openxmlformats.org/officeDocument/2006/relationships/notesSlide" Target="/ppt/notesSlides/notesSlide25.xml" Id="R34e088b8a2f64bc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WER</c:v>
          </c:tx>
          <c:spPr>
            <a:solidFill xmlns:a="http://schemas.openxmlformats.org/drawingml/2006/main">
              <a:srgbClr val="2D76AC"/>
            </a:solidFill>
          </c:spPr>
          <c:cat>
            <c:strRef>
              <c:f>'Chart Data'!$A$2:$A$4</c:f>
              <c:strCache>
                <c:ptCount val="3"/>
                <c:pt idx="0">
                  <c:v>Unadapted</c:v>
                </c:pt>
                <c:pt idx="1">
                  <c:v>LoRA: shared prompts</c:v>
                </c:pt>
                <c:pt idx="2">
                  <c:v>LoRA: new prompts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53</c:v>
                </c:pt>
                <c:pt idx="1">
                  <c:v>24</c:v>
                </c:pt>
                <c:pt idx="2">
                  <c:v>44.2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61616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WER</c:v>
          </c:tx>
          <c:spPr>
            <a:solidFill xmlns:a="http://schemas.openxmlformats.org/drawingml/2006/main">
              <a:srgbClr val="2D76AC"/>
            </a:solidFill>
          </c:spPr>
          <c:cat>
            <c:strRef>
              <c:f>'Chart Data'!$A$2:$A$3</c:f>
              <c:strCache>
                <c:ptCount val="2"/>
                <c:pt idx="0">
                  <c:v>No personal data</c:v>
                </c:pt>
                <c:pt idx="1">
                  <c:v>5 minutes of user speech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24.7</c:v>
                </c:pt>
                <c:pt idx="1">
                  <c:v>20.8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61616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Prompt WER</c:v>
          </c:tx>
          <c:spPr>
            <a:solidFill xmlns:a="http://schemas.openxmlformats.org/drawingml/2006/main">
              <a:srgbClr val="2D76AC"/>
            </a:solidFill>
          </c:spPr>
          <c:cat>
            <c:strRef>
              <c:f>'Chart Data'!$A$2:$A$5</c:f>
              <c:strCache>
                <c:ptCount val="4"/>
                <c:pt idx="0">
                  <c:v>M0</c:v>
                </c:pt>
                <c:pt idx="1">
                  <c:v>M1 LoRA</c:v>
                </c:pt>
                <c:pt idx="2">
                  <c:v>M2 + AAI</c:v>
                </c:pt>
                <c:pt idx="3">
                  <c:v>M3 gated AAI</c:v>
                </c:pt>
              </c:strCache>
            </c:strRef>
          </c:cat>
          <c:val>
            <c:numRef>
              <c:f>'Chart Data'!$B$2:$B$5</c:f>
              <c:numCache>
                <c:formatCode>0"%"</c:formatCode>
                <c:ptCount val="4"/>
                <c:pt idx="0">
                  <c:v>127.4</c:v>
                </c:pt>
                <c:pt idx="1">
                  <c:v>47.8</c:v>
                </c:pt>
                <c:pt idx="2">
                  <c:v>48</c:v>
                </c:pt>
                <c:pt idx="3">
                  <c:v>48.2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61616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Prompt WER</c:v>
          </c:tx>
          <c:spPr>
            <a:solidFill xmlns:a="http://schemas.openxmlformats.org/drawingml/2006/main">
              <a:srgbClr val="2D76AC"/>
            </a:solidFill>
          </c:spPr>
          <c:cat>
            <c:strRef>
              <c:f>'Chart Data'!$A$2:$A$4</c:f>
              <c:strCache>
                <c:ptCount val="3"/>
                <c:pt idx="0">
                  <c:v>Unadapted</c:v>
                </c:pt>
                <c:pt idx="1">
                  <c:v>Early LoRA</c:v>
                </c:pt>
                <c:pt idx="2">
                  <c:v>Broader-prompt LoRA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68.2</c:v>
                </c:pt>
                <c:pt idx="1">
                  <c:v>50.2</c:v>
                </c:pt>
                <c:pt idx="2">
                  <c:v>39.8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61616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Prompt WER</c:v>
          </c:tx>
          <c:spPr>
            <a:solidFill xmlns:a="http://schemas.openxmlformats.org/drawingml/2006/main">
              <a:srgbClr val="2D76AC"/>
            </a:solidFill>
          </c:spPr>
          <c:cat>
            <c:strRef>
              <c:f>'Chart Data'!$A$2:$A$3</c:f>
              <c:strCache>
                <c:ptCount val="2"/>
                <c:pt idx="0">
                  <c:v>Broader-prompt LoRA</c:v>
                </c:pt>
                <c:pt idx="1">
                  <c:v>Selected multiword LoRA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32.8</c:v>
                </c:pt>
                <c:pt idx="1">
                  <c:v>29.6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61616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335C4D9-C952-4588-8C2B-2D7B241CFFA0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407576" y="381000"/>
            <a:ext cx="203024" cy="288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AD75FED6-38D0-DE9C-92C0-6E7FA635581C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</a:t>
            </a:fld>
            <a:endParaRPr/>
          </a:p>
        </p:txBody>
      </p:sp>
      <p:sp>
        <p:nvSpPr>
          <p:cNvPr id="131" name="Z-SPA">
            <a:extLst xmlns:a="http://schemas.openxmlformats.org/drawingml/2006/main">
              <a:ext uri="{FF2B5EF4-FFF2-40B4-BE49-F238E27FC236}">
                <a16:creationId xmlns:a16="http://schemas.microsoft.com/office/drawing/2014/main" id="{129EDDEA-9CAE-4F75-9B65-2CCC4E7095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3900" y="1306873"/>
            <a:ext cx="7696200" cy="1912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buNone/>
              <a:defRPr sz="22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NeuroSAFE-Voice: Dysarthric Speech Recognition and Safe Voice Interaction</a:t>
            </a:r>
            <a:endParaRPr sz="2600" b="0"/>
          </a:p>
          <a:p xmlns:a="http://schemas.openxmlformats.org/drawingml/2006/main">
            <a:pPr algn="ctr">
              <a:buNone/>
              <a:defRPr sz="22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22AIE498 Project Progress Presentation</a:t>
            </a:r>
            <a:endParaRPr sz="2600" b="0"/>
          </a:p>
          <a:p xmlns:a="http://schemas.openxmlformats.org/drawingml/2006/main">
            <a:pPr>
              <a:buNone/>
              <a:defRPr sz="4000" b="1">
                <a:latin typeface="Times New Roman"/>
                <a:ea typeface="Times New Roman"/>
                <a:cs typeface="Times New Roman"/>
              </a:defRPr>
            </a:pPr>
            <a:r>
              <a:rPr sz="2600"/>
              <a:t/>
            </a:r>
            <a:endParaRPr sz="2600" b="0"/>
          </a:p>
          <a:p xmlns:a="http://schemas.openxmlformats.org/drawingml/2006/main">
            <a:pPr algn="ctr">
              <a:buNone/>
              <a:defRPr sz="22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Team ID: 23UG068                                  Panel No.: 11</a:t>
            </a:r>
            <a:endParaRPr sz="2600" b="0"/>
          </a:p>
        </p:txBody>
      </p:sp>
      <p:sp>
        <p:nvSpPr>
          <p:cNvPr id="132" name="Rectangle">
            <a:extLst xmlns:a="http://schemas.openxmlformats.org/drawingml/2006/main">
              <a:ext uri="{FF2B5EF4-FFF2-40B4-BE49-F238E27FC236}">
                <a16:creationId xmlns:a16="http://schemas.microsoft.com/office/drawing/2014/main" id="{447FF54D-FA1A-4D47-89DB-44AAD6C6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4800"/>
            <a:ext cx="685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pPr>
              <a:buNone/>
              <a:defRPr sz="2800">
                <a:latin typeface="+mn-lt"/>
                <a:ea typeface="+mn-lt"/>
                <a:cs typeface="+mn-lt"/>
              </a:defRPr>
            </a:pPr>
            <a:endParaRPr/>
          </a:p>
        </p:txBody>
      </p:sp>
      <p:graphicFrame>
        <p:nvGraphicFramePr>
          <p:cNvPr id="137" name="Table">
            <a:extLst xmlns:a="http://schemas.openxmlformats.org/drawingml/2006/main">
              <a:ext uri="{FF2B5EF4-FFF2-40B4-BE49-F238E27FC236}">
                <a16:creationId xmlns:a16="http://schemas.microsoft.com/office/drawing/2014/main" id="{C64FC5E7-28E0-482C-A01D-E8267B54AEB1}"/>
              </a:ext>
            </a:extLst>
          </p:cNvPr>
          <p:cNvGraphicFramePr/>
          <p:nvPr/>
        </p:nvGraphicFramePr>
        <p:xfrm>
          <a:off xmlns:a="http://schemas.openxmlformats.org/drawingml/2006/main" x="582654" y="3311645"/>
          <a:ext xmlns:a="http://schemas.openxmlformats.org/drawingml/2006/main" cx="7983372" cy="1873078"/>
        </p:xfrm>
        <a:graphic xmlns:a="http://schemas.openxmlformats.org/drawingml/2006/main"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69825"/>
                <a:gridCol w="2263539"/>
                <a:gridCol w="3752502"/>
                <a:gridCol w="1197506"/>
              </a:tblGrid>
              <a:tr h="4306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latin typeface="Times New Roman"/>
                          <a:ea typeface="Times New Roman"/>
                          <a:cs typeface="Times New Roman"/>
                        </a:rPr>
                        <a:t>S.No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latin typeface="Times New Roman"/>
                          <a:ea typeface="Times New Roman"/>
                          <a:cs typeface="Times New Roman"/>
                        </a:rPr>
                        <a:t>Reg.No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latin typeface="Times New Roman"/>
                          <a:ea typeface="Times New Roman"/>
                          <a:cs typeface="Times New Roman"/>
                        </a:rPr>
                        <a:t>Name of the Student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latin typeface="Times New Roman"/>
                          <a:ea typeface="Times New Roman"/>
                          <a:cs typeface="Times New Roman"/>
                        </a:rPr>
                        <a:t>Branch</a:t>
                      </a:r>
                      <a:endParaRPr sz="1800" b="1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606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BL.EN.U4AIE23016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Machavarapu Lalith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AIE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6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BL.EN.U4AIE23037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Rakesh Vemana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AIE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6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BL.EN.U4AIE23042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N Suchitha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latin typeface="Times New Roman"/>
                          <a:ea typeface="Times New Roman"/>
                          <a:cs typeface="Times New Roman"/>
                        </a:rPr>
                        <a:t>AIE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6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anchor="ctr" horzOverflow="overflow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ED1C9A4-2BF8-4E1B-99AA-FB650FCB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38" y="5779566"/>
            <a:ext cx="92396" cy="30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none" lIns="45719" tIns="45719" rIns="45719" bIns="45719" anchor="t">
            <a:spAutoFit/>
          </a:bodyPr>
          <a:lstStyle xmlns:a="http://schemas.openxmlformats.org/drawingml/2006/main"/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0" i="0" u="none" strike="noStrike" cap="none" spc="0" baseline="0">
              <a:ln>
                <a:noFill/>
              </a:ln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FFDD27-CA99-4A86-AB58-A491FF87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638" y="5591102"/>
            <a:ext cx="4823286" cy="5257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ap="flat">
            <a:noFill/>
            <a:miter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45719" tIns="45719" rIns="45719" bIns="45719" anchor="t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Project Guide: Dr. Kavya Sai Yaddanapudi</a:t>
            </a:r>
          </a:p>
          <a:p xmlns:a="http://schemas.openxmlformats.org/drawingml/2006/main"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Assistant Professor</a:t>
            </a:r>
            <a:endParaRPr sz="1800" b="1"/>
          </a:p>
        </p:txBody>
      </p:sp>
    </p:spTree>
    <p:extLst>
      <p:ext uri="{BB962C8B-B14F-4D97-AF65-F5344CB8AC3E}">
        <p14:creationId xmlns:p14="http://schemas.microsoft.com/office/powerpoint/2010/main" val="4628758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E2598689-54C9-18A7-3A19-ED76AA08988F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The problem and project goal</a:t>
            </a:r>
            <a:endParaRPr sz="3200"/>
          </a:p>
        </p:txBody>
      </p:sp>
      <p:sp>
        <p:nvSpPr>
          <p:cNvPr id="158" name="problem">
            <a:extLst xmlns:a="http://schemas.openxmlformats.org/drawingml/2006/main">
              <a:ext uri="{FF2B5EF4-FFF2-40B4-BE49-F238E27FC236}">
                <a16:creationId xmlns:a16="http://schemas.microsoft.com/office/drawing/2014/main" id="{E0F7D37C-889B-499B-AC33-D9EA7C77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00200"/>
            <a:ext cx="72009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Dysarthria changes articulation, rate and pausing. Voice assistants trained on typical speech can mishear the user, especially when speech is severe.</a:t>
            </a:r>
          </a:p>
        </p:txBody>
      </p:sp>
      <p:sp>
        <p:nvSpPr>
          <p:cNvPr id="159" name="goal">
            <a:extLst xmlns:a="http://schemas.openxmlformats.org/drawingml/2006/main">
              <a:ext uri="{FF2B5EF4-FFF2-40B4-BE49-F238E27FC236}">
                <a16:creationId xmlns:a16="http://schemas.microsoft.com/office/drawing/2014/main" id="{7119FE93-C5EB-4547-81E5-851E6427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19400"/>
            <a:ext cx="695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21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Project goal</a:t>
            </a:r>
          </a:p>
        </p:txBody>
      </p:sp>
      <p:sp>
        <p:nvSpPr>
          <p:cNvPr id="160" name="goalbody">
            <a:extLst xmlns:a="http://schemas.openxmlformats.org/drawingml/2006/main">
              <a:ext uri="{FF2B5EF4-FFF2-40B4-BE49-F238E27FC236}">
                <a16:creationId xmlns:a16="http://schemas.microsoft.com/office/drawing/2014/main" id="{5E962F01-2E6E-4B93-9C31-E3364DD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712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8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8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Convert dysarthric speech into an understood request, then require confirmation before an uncertain or risky action.</a:t>
            </a:r>
          </a:p>
        </p:txBody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AB977C45-20A6-4BEF-AC8B-4A52EEF487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719f661714561"/>
          <a:stretch xmlns:a="http://schemas.openxmlformats.org/drawingml/2006/main"/>
        </p:blipFill>
        <p:spPr>
          <a:xfrm xmlns:a="http://schemas.openxmlformats.org/drawingml/2006/main">
            <a:off x="2786063" y="4552950"/>
            <a:ext cx="3571875" cy="1190625"/>
          </a:xfrm>
          <a:prstGeom xmlns:a="http://schemas.openxmlformats.org/drawingml/2006/main" prst="rect">
            <a:avLst/>
          </a:prstGeom>
        </p:spPr>
      </p:pic>
      <p:sp>
        <p:nvSpPr>
          <p:cNvPr id="162" name="source">
            <a:extLst xmlns:a="http://schemas.openxmlformats.org/drawingml/2006/main">
              <a:ext uri="{FF2B5EF4-FFF2-40B4-BE49-F238E27FC236}">
                <a16:creationId xmlns:a16="http://schemas.microsoft.com/office/drawing/2014/main" id="{36951AAA-3D3E-44EC-B301-0B15D42B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Supplied project presentation, pp. 4–6; NeuroSAFE report, pp. 1–2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202359C0-8A7A-196E-DD58-8E6569619F09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What is implemented now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FCA9945-4C8A-4957-9AE6-839EECBE6688}"/>
              </a:ext>
            </a:extLst>
          </p:cNvPr>
          <p:cNvGraphicFramePr/>
          <p:nvPr/>
        </p:nvGraphicFramePr>
        <p:xfrm>
          <a:off xmlns:a="http://schemas.openxmlformats.org/drawingml/2006/main" x="714375" y="1581150"/>
          <a:ext xmlns:a="http://schemas.openxmlformats.org/drawingml/2006/main" cx="771525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619250"/>
                <a:gridCol w="4286250"/>
              </a:tblGrid>
              <a:tr h="6048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state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6048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 and audits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TORGO and MOCHA manifests, quality flags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Speech recognition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Evaluated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Five baselines, LoRA, longer and fresh tests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048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Articulatory prediction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Ridge, MOCHA prior, temporal model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assistant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Prototype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Intent parser, confirmation, simulated receipt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048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Real tool 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Pending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external action connector installed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status-note">
            <a:extLst xmlns:a="http://schemas.openxmlformats.org/drawingml/2006/main">
              <a:ext uri="{FF2B5EF4-FFF2-40B4-BE49-F238E27FC236}">
                <a16:creationId xmlns:a16="http://schemas.microsoft.com/office/drawing/2014/main" id="{A468B970-357B-4C58-A9BB-623C3788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721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The full system has not yet been validated with dysarthric voice commands or real actions.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74021ABA-E5BE-474D-9580-D7CB91E7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Project README and experiment reports, updated 7 Oct 2026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EFD6AB9A-5F9E-5F59-51AB-3C8734130965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4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System architecture</a:t>
            </a:r>
            <a:endParaRPr sz="3200"/>
          </a:p>
        </p:txBody>
      </p:sp>
      <p:sp>
        <p:nvSpPr>
          <p:cNvPr id="158" name="capture-box">
            <a:extLst xmlns:a="http://schemas.openxmlformats.org/drawingml/2006/main">
              <a:ext uri="{FF2B5EF4-FFF2-40B4-BE49-F238E27FC236}">
                <a16:creationId xmlns:a16="http://schemas.microsoft.com/office/drawing/2014/main" id="{336FA59B-9147-4000-9A7B-1FBCF68A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1390650" cy="18097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59" name="capture-title">
            <a:extLst xmlns:a="http://schemas.openxmlformats.org/drawingml/2006/main">
              <a:ext uri="{FF2B5EF4-FFF2-40B4-BE49-F238E27FC236}">
                <a16:creationId xmlns:a16="http://schemas.microsoft.com/office/drawing/2014/main" id="{E8898B3A-935C-4ED0-A6E8-F75C1023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1  Capture</a:t>
            </a:r>
          </a:p>
        </p:txBody>
      </p:sp>
      <p:sp>
        <p:nvSpPr>
          <p:cNvPr id="160" name="capture-body">
            <a:extLst xmlns:a="http://schemas.openxmlformats.org/drawingml/2006/main">
              <a:ext uri="{FF2B5EF4-FFF2-40B4-BE49-F238E27FC236}">
                <a16:creationId xmlns:a16="http://schemas.microsoft.com/office/drawing/2014/main" id="{928E65F9-04B9-4773-9D5E-02C0313D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6525"/>
            <a:ext cx="123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Local microphone saves a 16 kHz WAV</a:t>
            </a:r>
          </a:p>
        </p:txBody>
      </p:sp>
      <p:sp>
        <p:nvSpPr>
          <p:cNvPr id="161" name="capture-to-asr">
            <a:extLst xmlns:a="http://schemas.openxmlformats.org/drawingml/2006/main">
              <a:ext uri="{FF2B5EF4-FFF2-40B4-BE49-F238E27FC236}">
                <a16:creationId xmlns:a16="http://schemas.microsoft.com/office/drawing/2014/main" id="{5B653622-51A4-40BD-8D8C-11EF4582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575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62" name="asr-box">
            <a:extLst xmlns:a="http://schemas.openxmlformats.org/drawingml/2006/main">
              <a:ext uri="{FF2B5EF4-FFF2-40B4-BE49-F238E27FC236}">
                <a16:creationId xmlns:a16="http://schemas.microsoft.com/office/drawing/2014/main" id="{3A9994A6-E185-4241-8224-7E85D019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124075"/>
            <a:ext cx="1390650" cy="18097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63" name="asr-title">
            <a:extLst xmlns:a="http://schemas.openxmlformats.org/drawingml/2006/main">
              <a:ext uri="{FF2B5EF4-FFF2-40B4-BE49-F238E27FC236}">
                <a16:creationId xmlns:a16="http://schemas.microsoft.com/office/drawing/2014/main" id="{2D148E12-A067-43DA-9618-9D3E1B82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2193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2  Recognise</a:t>
            </a:r>
          </a:p>
        </p:txBody>
      </p:sp>
      <p:sp>
        <p:nvSpPr>
          <p:cNvPr id="164" name="asr-body">
            <a:extLst xmlns:a="http://schemas.openxmlformats.org/drawingml/2006/main">
              <a:ext uri="{FF2B5EF4-FFF2-40B4-BE49-F238E27FC236}">
                <a16:creationId xmlns:a16="http://schemas.microsoft.com/office/drawing/2014/main" id="{A7FB6236-1CB1-4F8C-9697-067A601C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76525"/>
            <a:ext cx="123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Whisper Small with selected LoRA adapter</a:t>
            </a:r>
          </a:p>
        </p:txBody>
      </p:sp>
      <p:sp>
        <p:nvSpPr>
          <p:cNvPr id="165" name="asr-to-intent">
            <a:extLst xmlns:a="http://schemas.openxmlformats.org/drawingml/2006/main">
              <a:ext uri="{FF2B5EF4-FFF2-40B4-BE49-F238E27FC236}">
                <a16:creationId xmlns:a16="http://schemas.microsoft.com/office/drawing/2014/main" id="{E572567F-4AFC-439B-8F12-B8A77BD7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575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66" name="intent-box">
            <a:extLst xmlns:a="http://schemas.openxmlformats.org/drawingml/2006/main">
              <a:ext uri="{FF2B5EF4-FFF2-40B4-BE49-F238E27FC236}">
                <a16:creationId xmlns:a16="http://schemas.microsoft.com/office/drawing/2014/main" id="{94385699-071B-493D-8093-A08CEBCE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24075"/>
            <a:ext cx="1390650" cy="18097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67" name="intent-title">
            <a:extLst xmlns:a="http://schemas.openxmlformats.org/drawingml/2006/main">
              <a:ext uri="{FF2B5EF4-FFF2-40B4-BE49-F238E27FC236}">
                <a16:creationId xmlns:a16="http://schemas.microsoft.com/office/drawing/2014/main" id="{B0F70BCB-F95F-4F74-AF1D-E7C98BA6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193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3  Understand</a:t>
            </a:r>
          </a:p>
        </p:txBody>
      </p:sp>
      <p:sp>
        <p:nvSpPr>
          <p:cNvPr id="168" name="intent-body">
            <a:extLst xmlns:a="http://schemas.openxmlformats.org/drawingml/2006/main">
              <a:ext uri="{FF2B5EF4-FFF2-40B4-BE49-F238E27FC236}">
                <a16:creationId xmlns:a16="http://schemas.microsoft.com/office/drawing/2014/main" id="{36F76D63-2829-4835-A26E-EE14DDE3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76525"/>
            <a:ext cx="123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Local allowlisted intent parser and aliases</a:t>
            </a:r>
          </a:p>
        </p:txBody>
      </p:sp>
      <p:sp>
        <p:nvSpPr>
          <p:cNvPr id="169" name="intent-to-gate">
            <a:extLst xmlns:a="http://schemas.openxmlformats.org/drawingml/2006/main">
              <a:ext uri="{FF2B5EF4-FFF2-40B4-BE49-F238E27FC236}">
                <a16:creationId xmlns:a16="http://schemas.microsoft.com/office/drawing/2014/main" id="{636553CE-36CE-4F56-B1EF-9EBC81EF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70" name="gate-box">
            <a:extLst xmlns:a="http://schemas.openxmlformats.org/drawingml/2006/main">
              <a:ext uri="{FF2B5EF4-FFF2-40B4-BE49-F238E27FC236}">
                <a16:creationId xmlns:a16="http://schemas.microsoft.com/office/drawing/2014/main" id="{75CEF5C9-D53B-4BE7-94DC-8C28088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24075"/>
            <a:ext cx="1390650" cy="1809750"/>
          </a:xfrm>
          <a:prstGeom xmlns:a="http://schemas.openxmlformats.org/drawingml/2006/main" prst="roundRect">
            <a:avLst>
              <a:gd name="adj" fmla="val 6849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71" name="gate-title">
            <a:extLst xmlns:a="http://schemas.openxmlformats.org/drawingml/2006/main">
              <a:ext uri="{FF2B5EF4-FFF2-40B4-BE49-F238E27FC236}">
                <a16:creationId xmlns:a16="http://schemas.microsoft.com/office/drawing/2014/main" id="{E883A7CA-BC15-46E8-BD07-1A21F419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1932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4  Decide</a:t>
            </a:r>
          </a:p>
        </p:txBody>
      </p:sp>
      <p:sp>
        <p:nvSpPr>
          <p:cNvPr id="172" name="gate-body">
            <a:extLst xmlns:a="http://schemas.openxmlformats.org/drawingml/2006/main">
              <a:ext uri="{FF2B5EF4-FFF2-40B4-BE49-F238E27FC236}">
                <a16:creationId xmlns:a16="http://schemas.microsoft.com/office/drawing/2014/main" id="{9798B6AA-C428-4310-8402-D2370E0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76525"/>
            <a:ext cx="1238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Clarify or request explicit confirmation</a:t>
            </a:r>
          </a:p>
        </p:txBody>
      </p:sp>
      <p:sp>
        <p:nvSpPr>
          <p:cNvPr id="173" name="gate-to-response">
            <a:extLst xmlns:a="http://schemas.openxmlformats.org/drawingml/2006/main">
              <a:ext uri="{FF2B5EF4-FFF2-40B4-BE49-F238E27FC236}">
                <a16:creationId xmlns:a16="http://schemas.microsoft.com/office/drawing/2014/main" id="{3BD8D60F-4A71-45ED-A4AB-FD73A5C0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8575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74" name="response-box">
            <a:extLst xmlns:a="http://schemas.openxmlformats.org/drawingml/2006/main">
              <a:ext uri="{FF2B5EF4-FFF2-40B4-BE49-F238E27FC236}">
                <a16:creationId xmlns:a16="http://schemas.microsoft.com/office/drawing/2014/main" id="{7789DF36-9416-4578-A7D2-3DE2192B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24075"/>
            <a:ext cx="1047750" cy="1809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75" name="response-title">
            <a:extLst xmlns:a="http://schemas.openxmlformats.org/drawingml/2006/main">
              <a:ext uri="{FF2B5EF4-FFF2-40B4-BE49-F238E27FC236}">
                <a16:creationId xmlns:a16="http://schemas.microsoft.com/office/drawing/2014/main" id="{1B8773C1-19A4-4CC5-A006-05674618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1932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94888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5  Respond</a:t>
            </a:r>
          </a:p>
        </p:txBody>
      </p:sp>
      <p:sp>
        <p:nvSpPr>
          <p:cNvPr id="176" name="response-body">
            <a:extLst xmlns:a="http://schemas.openxmlformats.org/drawingml/2006/main">
              <a:ext uri="{FF2B5EF4-FFF2-40B4-BE49-F238E27FC236}">
                <a16:creationId xmlns:a16="http://schemas.microsoft.com/office/drawing/2014/main" id="{C70324CE-E6F9-4C05-BF37-96674885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76525"/>
            <a:ext cx="895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Simulated receipt and accessible feedback</a:t>
            </a:r>
          </a:p>
        </p:txBody>
      </p:sp>
      <p:sp>
        <p:nvSpPr>
          <p:cNvPr id="177" name="architecture-state">
            <a:extLst xmlns:a="http://schemas.openxmlformats.org/drawingml/2006/main">
              <a:ext uri="{FF2B5EF4-FFF2-40B4-BE49-F238E27FC236}">
                <a16:creationId xmlns:a16="http://schemas.microsoft.com/office/drawing/2014/main" id="{2A804AB1-F73C-4868-923D-703BE085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67200"/>
            <a:ext cx="7486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98243"/>
          </a:bodyPr>
          <a:lstStyle xmlns:a="http://schemas.openxmlformats.org/drawingml/2006/main">
            <a:defPPr algn="ctr">
              <a:defRPr sz="1575" b="1">
                <a:solidFill>
                  <a:srgbClr val="407D8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407D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407D80"/>
                </a:solidFill>
                <a:latin typeface="Times New Roman"/>
                <a:ea typeface="Times New Roman"/>
                <a:cs typeface="Times New Roman"/>
              </a:rPr>
              <a:t>Implemented prototype path: recorder, ASR, intent parsing, confirmation and simulation.</a:t>
            </a:r>
          </a:p>
        </p:txBody>
      </p:sp>
      <p:sp>
        <p:nvSpPr>
          <p:cNvPr id="178" name="architecture-open">
            <a:extLst xmlns:a="http://schemas.openxmlformats.org/drawingml/2006/main">
              <a:ext uri="{FF2B5EF4-FFF2-40B4-BE49-F238E27FC236}">
                <a16:creationId xmlns:a16="http://schemas.microsoft.com/office/drawing/2014/main" id="{1F72BFE2-7CA7-4383-8678-D87078C4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7543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Real calls, messages, deletions and device actions are not connected. Context retrieval and stronger articulatory fusion remain research tasks.</a:t>
            </a:r>
          </a:p>
        </p:txBody>
      </p:sp>
      <p:sp>
        <p:nvSpPr>
          <p:cNvPr id="179" name="source">
            <a:extLst xmlns:a="http://schemas.openxmlformats.org/drawingml/2006/main">
              <a:ext uri="{FF2B5EF4-FFF2-40B4-BE49-F238E27FC236}">
                <a16:creationId xmlns:a16="http://schemas.microsoft.com/office/drawing/2014/main" id="{59172D17-516E-40A3-9911-9A161993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local assistant implementation; assistant experiment report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EE5B3003-2C54-13C6-9832-7637201064DE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5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Speech research pipeline</a:t>
            </a:r>
            <a:endParaRPr sz="3200"/>
          </a:p>
        </p:txBody>
      </p:sp>
      <p:sp>
        <p:nvSpPr>
          <p:cNvPr id="158" name="research-label1">
            <a:extLst xmlns:a="http://schemas.openxmlformats.org/drawingml/2006/main">
              <a:ext uri="{FF2B5EF4-FFF2-40B4-BE49-F238E27FC236}">
                <a16:creationId xmlns:a16="http://schemas.microsoft.com/office/drawing/2014/main" id="{6C096699-979F-4BA9-9BBA-CCC7DA59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65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Retained acoustic path</a:t>
            </a:r>
          </a:p>
        </p:txBody>
      </p:sp>
      <p:sp>
        <p:nvSpPr>
          <p:cNvPr id="159" name="torgo-box">
            <a:extLst xmlns:a="http://schemas.openxmlformats.org/drawingml/2006/main">
              <a:ext uri="{FF2B5EF4-FFF2-40B4-BE49-F238E27FC236}">
                <a16:creationId xmlns:a16="http://schemas.microsoft.com/office/drawing/2014/main" id="{02E93675-7CEF-4F38-8609-B2948549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71675"/>
            <a:ext cx="16192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60" name="torgo-title">
            <a:extLst xmlns:a="http://schemas.openxmlformats.org/drawingml/2006/main">
              <a:ext uri="{FF2B5EF4-FFF2-40B4-BE49-F238E27FC236}">
                <a16:creationId xmlns:a16="http://schemas.microsoft.com/office/drawing/2014/main" id="{4AD8B7A8-4FC1-492D-9385-34E890D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66925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TORGO</a:t>
            </a:r>
          </a:p>
        </p:txBody>
      </p:sp>
      <p:sp>
        <p:nvSpPr>
          <p:cNvPr id="161" name="torgo-body">
            <a:extLst xmlns:a="http://schemas.openxmlformats.org/drawingml/2006/main">
              <a:ext uri="{FF2B5EF4-FFF2-40B4-BE49-F238E27FC236}">
                <a16:creationId xmlns:a16="http://schemas.microsoft.com/office/drawing/2014/main" id="{E8ADF263-FB51-4991-81EA-D224E7BC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524125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Audio and written prompts</a:t>
            </a:r>
          </a:p>
        </p:txBody>
      </p:sp>
      <p:sp>
        <p:nvSpPr>
          <p:cNvPr id="162" name="r1">
            <a:extLst xmlns:a="http://schemas.openxmlformats.org/drawingml/2006/main">
              <a:ext uri="{FF2B5EF4-FFF2-40B4-BE49-F238E27FC236}">
                <a16:creationId xmlns:a16="http://schemas.microsoft.com/office/drawing/2014/main" id="{E5D9A3C0-6607-4735-991C-EFA01E7D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527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63" name="qc-box">
            <a:extLst xmlns:a="http://schemas.openxmlformats.org/drawingml/2006/main">
              <a:ext uri="{FF2B5EF4-FFF2-40B4-BE49-F238E27FC236}">
                <a16:creationId xmlns:a16="http://schemas.microsoft.com/office/drawing/2014/main" id="{9D5511B2-1E13-476F-A5FF-2D4AC9E5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71675"/>
            <a:ext cx="16192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64" name="qc-title">
            <a:extLst xmlns:a="http://schemas.openxmlformats.org/drawingml/2006/main">
              <a:ext uri="{FF2B5EF4-FFF2-40B4-BE49-F238E27FC236}">
                <a16:creationId xmlns:a16="http://schemas.microsoft.com/office/drawing/2014/main" id="{FC6C2201-CC32-4EF3-8742-C84E4306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66925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Preparation</a:t>
            </a:r>
          </a:p>
        </p:txBody>
      </p:sp>
      <p:sp>
        <p:nvSpPr>
          <p:cNvPr id="165" name="qc-body">
            <a:extLst xmlns:a="http://schemas.openxmlformats.org/drawingml/2006/main">
              <a:ext uri="{FF2B5EF4-FFF2-40B4-BE49-F238E27FC236}">
                <a16:creationId xmlns:a16="http://schemas.microsoft.com/office/drawing/2014/main" id="{533160EB-A091-4B28-A984-E41B97D1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Audio checks and held-out speaker splits</a:t>
            </a:r>
          </a:p>
        </p:txBody>
      </p:sp>
      <p:sp>
        <p:nvSpPr>
          <p:cNvPr id="166" name="r2">
            <a:extLst xmlns:a="http://schemas.openxmlformats.org/drawingml/2006/main">
              <a:ext uri="{FF2B5EF4-FFF2-40B4-BE49-F238E27FC236}">
                <a16:creationId xmlns:a16="http://schemas.microsoft.com/office/drawing/2014/main" id="{84F62011-38A3-43BC-9132-D2D8F4F8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527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67" name="whisper-box">
            <a:extLst xmlns:a="http://schemas.openxmlformats.org/drawingml/2006/main">
              <a:ext uri="{FF2B5EF4-FFF2-40B4-BE49-F238E27FC236}">
                <a16:creationId xmlns:a16="http://schemas.microsoft.com/office/drawing/2014/main" id="{92938533-32F0-424D-8F57-AB65D16E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971675"/>
            <a:ext cx="16192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68" name="whisper-title">
            <a:extLst xmlns:a="http://schemas.openxmlformats.org/drawingml/2006/main">
              <a:ext uri="{FF2B5EF4-FFF2-40B4-BE49-F238E27FC236}">
                <a16:creationId xmlns:a16="http://schemas.microsoft.com/office/drawing/2014/main" id="{6B350EB6-97D4-4ABE-951F-93CB6141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066925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99569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Whisper + LoRA</a:t>
            </a:r>
          </a:p>
        </p:txBody>
      </p:sp>
      <p:sp>
        <p:nvSpPr>
          <p:cNvPr id="169" name="whisper-body">
            <a:extLst xmlns:a="http://schemas.openxmlformats.org/drawingml/2006/main">
              <a:ext uri="{FF2B5EF4-FFF2-40B4-BE49-F238E27FC236}">
                <a16:creationId xmlns:a16="http://schemas.microsoft.com/office/drawing/2014/main" id="{C0D9A9E3-435D-4E37-951D-AED79C81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24125"/>
            <a:ext cx="1466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Small speaker-adapted model</a:t>
            </a:r>
          </a:p>
        </p:txBody>
      </p:sp>
      <p:sp>
        <p:nvSpPr>
          <p:cNvPr id="170" name="r3">
            <a:extLst xmlns:a="http://schemas.openxmlformats.org/drawingml/2006/main">
              <a:ext uri="{FF2B5EF4-FFF2-40B4-BE49-F238E27FC236}">
                <a16:creationId xmlns:a16="http://schemas.microsoft.com/office/drawing/2014/main" id="{4BF426BD-7781-4A9F-B571-4618B5E2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71" name="wer-box">
            <a:extLst xmlns:a="http://schemas.openxmlformats.org/drawingml/2006/main">
              <a:ext uri="{FF2B5EF4-FFF2-40B4-BE49-F238E27FC236}">
                <a16:creationId xmlns:a16="http://schemas.microsoft.com/office/drawing/2014/main" id="{A36F9F61-2BEF-40BA-8BF2-E1FBC1C9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71675"/>
            <a:ext cx="150495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2D76AC"/>
            </a:solidFill>
            <a:prstDash val="solid"/>
          </a:ln>
        </p:spPr>
      </p:sp>
      <p:sp>
        <p:nvSpPr>
          <p:cNvPr id="172" name="wer-title">
            <a:extLst xmlns:a="http://schemas.openxmlformats.org/drawingml/2006/main">
              <a:ext uri="{FF2B5EF4-FFF2-40B4-BE49-F238E27FC236}">
                <a16:creationId xmlns:a16="http://schemas.microsoft.com/office/drawing/2014/main" id="{66FDD157-5341-42E2-A534-C6A37C67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66925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Evaluation</a:t>
            </a:r>
          </a:p>
        </p:txBody>
      </p:sp>
      <p:sp>
        <p:nvSpPr>
          <p:cNvPr id="173" name="wer-body">
            <a:extLst xmlns:a="http://schemas.openxmlformats.org/drawingml/2006/main">
              <a:ext uri="{FF2B5EF4-FFF2-40B4-BE49-F238E27FC236}">
                <a16:creationId xmlns:a16="http://schemas.microsoft.com/office/drawing/2014/main" id="{D62CBC53-C5B5-4D8C-932B-49E00A07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24125"/>
            <a:ext cx="13525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WER on fixed held-out clips</a:t>
            </a:r>
          </a:p>
        </p:txBody>
      </p:sp>
      <p:sp>
        <p:nvSpPr>
          <p:cNvPr id="174" name="research-label2">
            <a:extLst xmlns:a="http://schemas.openxmlformats.org/drawingml/2006/main">
              <a:ext uri="{FF2B5EF4-FFF2-40B4-BE49-F238E27FC236}">
                <a16:creationId xmlns:a16="http://schemas.microsoft.com/office/drawing/2014/main" id="{7101EDEF-CAEE-42FA-AE48-12F96B22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6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Exploratory articulatory path</a:t>
            </a:r>
          </a:p>
        </p:txBody>
      </p:sp>
      <p:sp>
        <p:nvSpPr>
          <p:cNvPr id="175" name="mocha-box">
            <a:extLst xmlns:a="http://schemas.openxmlformats.org/drawingml/2006/main">
              <a:ext uri="{FF2B5EF4-FFF2-40B4-BE49-F238E27FC236}">
                <a16:creationId xmlns:a16="http://schemas.microsoft.com/office/drawing/2014/main" id="{DD8651D7-3878-4905-BA58-ED56C9C8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71950"/>
            <a:ext cx="1619250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963651"/>
            </a:solidFill>
            <a:prstDash val="solid"/>
          </a:ln>
        </p:spPr>
      </p:sp>
      <p:sp>
        <p:nvSpPr>
          <p:cNvPr id="176" name="mocha-title">
            <a:extLst xmlns:a="http://schemas.openxmlformats.org/drawingml/2006/main">
              <a:ext uri="{FF2B5EF4-FFF2-40B4-BE49-F238E27FC236}">
                <a16:creationId xmlns:a16="http://schemas.microsoft.com/office/drawing/2014/main" id="{2F2101A6-2EFD-44BD-B4D0-257276F8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672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84131"/>
          </a:bodyPr>
          <a:lstStyle xmlns:a="http://schemas.openxmlformats.org/drawingml/2006/main">
            <a:defPPr algn="ctr"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MOCHA + TORGO</a:t>
            </a:r>
          </a:p>
        </p:txBody>
      </p:sp>
      <p:sp>
        <p:nvSpPr>
          <p:cNvPr id="177" name="mocha-body">
            <a:extLst xmlns:a="http://schemas.openxmlformats.org/drawingml/2006/main">
              <a:ext uri="{FF2B5EF4-FFF2-40B4-BE49-F238E27FC236}">
                <a16:creationId xmlns:a16="http://schemas.microsoft.com/office/drawing/2014/main" id="{FBCD112F-3266-4132-B58E-90B1EE25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24400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Audio with measured EMA</a:t>
            </a:r>
          </a:p>
        </p:txBody>
      </p:sp>
      <p:sp>
        <p:nvSpPr>
          <p:cNvPr id="178" name="a1">
            <a:extLst xmlns:a="http://schemas.openxmlformats.org/drawingml/2006/main">
              <a:ext uri="{FF2B5EF4-FFF2-40B4-BE49-F238E27FC236}">
                <a16:creationId xmlns:a16="http://schemas.microsoft.com/office/drawing/2014/main" id="{DAE4F547-BCE8-4452-B74E-12B1BA9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482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79" name="aai-box">
            <a:extLst xmlns:a="http://schemas.openxmlformats.org/drawingml/2006/main">
              <a:ext uri="{FF2B5EF4-FFF2-40B4-BE49-F238E27FC236}">
                <a16:creationId xmlns:a16="http://schemas.microsoft.com/office/drawing/2014/main" id="{2C1A2811-9B46-40E9-A1B8-70399E5C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71950"/>
            <a:ext cx="1619250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963651"/>
            </a:solidFill>
            <a:prstDash val="solid"/>
          </a:ln>
        </p:spPr>
      </p:sp>
      <p:sp>
        <p:nvSpPr>
          <p:cNvPr id="180" name="aai-title">
            <a:extLst xmlns:a="http://schemas.openxmlformats.org/drawingml/2006/main">
              <a:ext uri="{FF2B5EF4-FFF2-40B4-BE49-F238E27FC236}">
                <a16:creationId xmlns:a16="http://schemas.microsoft.com/office/drawing/2014/main" id="{4CA9AB74-E5FC-4004-9589-46E30C66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AAI models</a:t>
            </a:r>
          </a:p>
        </p:txBody>
      </p:sp>
      <p:sp>
        <p:nvSpPr>
          <p:cNvPr id="181" name="aai-body">
            <a:extLst xmlns:a="http://schemas.openxmlformats.org/drawingml/2006/main">
              <a:ext uri="{FF2B5EF4-FFF2-40B4-BE49-F238E27FC236}">
                <a16:creationId xmlns:a16="http://schemas.microsoft.com/office/drawing/2014/main" id="{0B676429-A3EB-40A0-A1F9-3454E8E8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24400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Ridge, prior and temporal tests</a:t>
            </a:r>
          </a:p>
        </p:txBody>
      </p:sp>
      <p:sp>
        <p:nvSpPr>
          <p:cNvPr id="182" name="a2">
            <a:extLst xmlns:a="http://schemas.openxmlformats.org/drawingml/2006/main">
              <a:ext uri="{FF2B5EF4-FFF2-40B4-BE49-F238E27FC236}">
                <a16:creationId xmlns:a16="http://schemas.microsoft.com/office/drawing/2014/main" id="{49691C2C-F85E-4250-9E9C-ECF97DE3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482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83" name="fusion-box">
            <a:extLst xmlns:a="http://schemas.openxmlformats.org/drawingml/2006/main">
              <a:ext uri="{FF2B5EF4-FFF2-40B4-BE49-F238E27FC236}">
                <a16:creationId xmlns:a16="http://schemas.microsoft.com/office/drawing/2014/main" id="{B2C86BF8-2F7C-4F1F-981E-A2DF3806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171950"/>
            <a:ext cx="1619250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963651"/>
            </a:solidFill>
            <a:prstDash val="solid"/>
          </a:ln>
        </p:spPr>
      </p:sp>
      <p:sp>
        <p:nvSpPr>
          <p:cNvPr id="184" name="fusion-title">
            <a:extLst xmlns:a="http://schemas.openxmlformats.org/drawingml/2006/main">
              <a:ext uri="{FF2B5EF4-FFF2-40B4-BE49-F238E27FC236}">
                <a16:creationId xmlns:a16="http://schemas.microsoft.com/office/drawing/2014/main" id="{FA02FC39-8E21-4170-813B-0441D64D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672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Fusion tests</a:t>
            </a:r>
          </a:p>
        </p:txBody>
      </p:sp>
      <p:sp>
        <p:nvSpPr>
          <p:cNvPr id="185" name="fusion-body">
            <a:extLst xmlns:a="http://schemas.openxmlformats.org/drawingml/2006/main">
              <a:ext uri="{FF2B5EF4-FFF2-40B4-BE49-F238E27FC236}">
                <a16:creationId xmlns:a16="http://schemas.microsoft.com/office/drawing/2014/main" id="{6DD2B4D1-4322-4EE4-9068-B381822E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724400"/>
            <a:ext cx="1466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Additive and gated methods</a:t>
            </a:r>
          </a:p>
        </p:txBody>
      </p:sp>
      <p:sp>
        <p:nvSpPr>
          <p:cNvPr id="186" name="a3">
            <a:extLst xmlns:a="http://schemas.openxmlformats.org/drawingml/2006/main">
              <a:ext uri="{FF2B5EF4-FFF2-40B4-BE49-F238E27FC236}">
                <a16:creationId xmlns:a16="http://schemas.microsoft.com/office/drawing/2014/main" id="{BF0FFFF6-76ED-4743-ADCE-31B98EAD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2286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D76AC"/>
          </a:solidFill>
          <a:ln xmlns:a="http://schemas.openxmlformats.org/drawingml/2006/main" w="0">
            <a:noFill/>
          </a:ln>
        </p:spPr>
      </p:sp>
      <p:sp>
        <p:nvSpPr>
          <p:cNvPr id="187" name="decision-box">
            <a:extLst xmlns:a="http://schemas.openxmlformats.org/drawingml/2006/main">
              <a:ext uri="{FF2B5EF4-FFF2-40B4-BE49-F238E27FC236}">
                <a16:creationId xmlns:a16="http://schemas.microsoft.com/office/drawing/2014/main" id="{3F09D1E4-2AE0-4652-A439-1223FE88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71950"/>
            <a:ext cx="1504950" cy="1276350"/>
          </a:xfrm>
          <a:prstGeom xmlns:a="http://schemas.openxmlformats.org/drawingml/2006/main" prst="roundRect">
            <a:avLst>
              <a:gd name="adj" fmla="val 7463"/>
            </a:avLst>
          </a:prstGeom>
          <a:solidFill xmlns:a="http://schemas.openxmlformats.org/drawingml/2006/main">
            <a:srgbClr val="F5FAFD"/>
          </a:solidFill>
          <a:ln xmlns:a="http://schemas.openxmlformats.org/drawingml/2006/main" w="14288">
            <a:solidFill>
              <a:srgbClr val="963651"/>
            </a:solidFill>
            <a:prstDash val="solid"/>
          </a:ln>
        </p:spPr>
      </p:sp>
      <p:sp>
        <p:nvSpPr>
          <p:cNvPr id="188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71AC6215-A9D0-4365-8C35-03A426F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67200"/>
            <a:ext cx="139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Decision</a:t>
            </a:r>
          </a:p>
        </p:txBody>
      </p:sp>
      <p:sp>
        <p:nvSpPr>
          <p:cNvPr id="189" name="decision-body">
            <a:extLst xmlns:a="http://schemas.openxmlformats.org/drawingml/2006/main">
              <a:ext uri="{FF2B5EF4-FFF2-40B4-BE49-F238E27FC236}">
                <a16:creationId xmlns:a16="http://schemas.microsoft.com/office/drawing/2014/main" id="{D248E414-1908-47C5-963F-F39803AC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2440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No ASR gain; audio-only path retained</a:t>
            </a:r>
          </a:p>
        </p:txBody>
      </p:sp>
      <p:sp>
        <p:nvSpPr>
          <p:cNvPr id="190" name="source">
            <a:extLst xmlns:a="http://schemas.openxmlformats.org/drawingml/2006/main">
              <a:ext uri="{FF2B5EF4-FFF2-40B4-BE49-F238E27FC236}">
                <a16:creationId xmlns:a16="http://schemas.microsoft.com/office/drawing/2014/main" id="{D8CB7AF4-C9A2-4DA3-BD3A-4A3281F6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ASR and articulation ablation report; articulatory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8C630A04-5A25-9E0C-9436-126091DB86B3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6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Datasets and their roles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0D8AF9E-BA70-4CF3-9174-300F3A0B4DB5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7924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2762250"/>
                <a:gridCol w="3114675"/>
              </a:tblGrid>
              <a:tr h="6858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Dataset / snapshot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Scale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TORGO workspace inventory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9,104 scoreable recordings; 8 dysarthric + 7 controls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ASR, speaker-held-out training and tests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TORGO supplied benchmark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8,986 cleaned; 3,077 dysarthric test recordings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Five-model baseline and personalisation study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MOCHA-TIMIT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919 decoded audio/EMA pairs; 2 speakers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Articulatory baseline and transfer prior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command recorder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saved command clip at present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Software path check, not user accuracy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</a:tbl>
          </a:graphicData>
        </a:graphic>
      </p:graphicFrame>
      <p:sp>
        <p:nvSpPr>
          <p:cNvPr id="159" name="data-warning">
            <a:extLst xmlns:a="http://schemas.openxmlformats.org/drawingml/2006/main">
              <a:ext uri="{FF2B5EF4-FFF2-40B4-BE49-F238E27FC236}">
                <a16:creationId xmlns:a16="http://schemas.microsoft.com/office/drawing/2014/main" id="{C37AED83-81B1-4A4C-A503-1960B67A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48275"/>
            <a:ext cx="727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The two TORGO inventories use different inclusion rules. Their WER values should be compared only within each frozen experiment.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E693BAA8-59F0-4217-9067-2BD957CD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NeuroSAFE speech recognition report, pp. 2–5; dataset and baseline report; local recording result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D3D7D1C8-AE23-AA48-DF65-C742588DBE47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7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Data preparation and quality checks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9CC5DF8-61B5-4B5E-B098-5A71A6D86C1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7924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3381375"/>
                <a:gridCol w="3067050"/>
              </a:tblGrid>
              <a:tr h="6429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Reason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Prompt targets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Exclude missing, nonliteral or malformed prompts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Score only clips with an explicit written target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Microphone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Prefer head mic; use array fallback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Avoid duplicate scoring of one utterance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Audio checks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kHz; duration and waveform screening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Flag missing, quiet or clipped files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EMA checks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Timing, missing coils and abrupt steps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Mask suspect channels without losing good ones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Splits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Hold out complete speakers and freeze test IDs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Estimate transfer to a new speaker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audit">
            <a:extLst xmlns:a="http://schemas.openxmlformats.org/drawingml/2006/main">
              <a:ext uri="{FF2B5EF4-FFF2-40B4-BE49-F238E27FC236}">
                <a16:creationId xmlns:a16="http://schemas.microsoft.com/office/drawing/2014/main" id="{6D4F09B2-1544-4A4F-9F1F-FAB49C35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48300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89896"/>
          </a:bodyPr>
          <a:lstStyle xmlns:a="http://schemas.openxmlformats.org/drawingml/2006/main">
            <a:defPPr algn="ctr">
              <a:defRPr sz="1350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Current audit: 6,267 TORGO head-audio/EMA pairs passed format and timing checks; 1,024 tracks received a sensor review flag.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A3CED8EF-E8EC-441B-ACC4-B83C94C1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dataset and baseline report; dataset quality audit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BA58DA2A-B818-18A9-29C1-B697728D5BCE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8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Evaluation on unseen speakers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9DCE7D8-D44C-4096-AA4D-5B9C54CBCDFB}"/>
              </a:ext>
            </a:extLst>
          </p:cNvPr>
          <p:cNvGraphicFramePr/>
          <p:nvPr/>
        </p:nvGraphicFramePr>
        <p:xfrm>
          <a:off xmlns:a="http://schemas.openxmlformats.org/drawingml/2006/main" x="657225" y="1638300"/>
          <a:ext xmlns:a="http://schemas.openxmlformats.org/drawingml/2006/main" cx="78295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2495550"/>
                <a:gridCol w="3381375"/>
              </a:tblGrid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Evaluation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 out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Purpose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Eight speaker leave-one-out runs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dysarthric speaker each run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a new voice; also run strict unseen prompts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fixed speaker folds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Two dysarthric speakers per fold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 M0–M3 on identical 280 clips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Long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187 clips, 6–30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Compare baseline and two LoRA recipes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Fresh multiword test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 clips frozen before targeted training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improvement beyond examined long clips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</a:tbl>
          </a:graphicData>
        </a:graphic>
      </p:graphicFrame>
      <p:sp>
        <p:nvSpPr>
          <p:cNvPr id="159" name="evaluation-warning">
            <a:extLst xmlns:a="http://schemas.openxmlformats.org/drawingml/2006/main">
              <a:ext uri="{FF2B5EF4-FFF2-40B4-BE49-F238E27FC236}">
                <a16:creationId xmlns:a16="http://schemas.microsoft.com/office/drawing/2014/main" id="{622443FF-44D6-4EE7-B9C9-A578861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716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6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A result from one test set is not a head-to-head comparison with a number from another test set.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0106C1C6-ADEB-425B-965B-8D91127C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NeuroSAFE speech recognition report, pp. 9–10; ASR pilot, long-test and fresh-test reports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388657AE-30A1-5A7A-6A7F-315D84436430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9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How recognition is measured</a:t>
            </a:r>
            <a:endParaRPr sz="3200"/>
          </a:p>
        </p:txBody>
      </p:sp>
      <p:sp>
        <p:nvSpPr>
          <p:cNvPr id="158" name="wer">
            <a:extLst xmlns:a="http://schemas.openxmlformats.org/drawingml/2006/main">
              <a:ext uri="{FF2B5EF4-FFF2-40B4-BE49-F238E27FC236}">
                <a16:creationId xmlns:a16="http://schemas.microsoft.com/office/drawing/2014/main" id="{AC3D9C29-AC24-4ED9-BBA1-330B93F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22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Word error rate (WER)</a:t>
            </a:r>
          </a:p>
        </p:txBody>
      </p:sp>
      <p:sp>
        <p:nvSpPr>
          <p:cNvPr id="159" name="formula">
            <a:extLst xmlns:a="http://schemas.openxmlformats.org/drawingml/2006/main">
              <a:ext uri="{FF2B5EF4-FFF2-40B4-BE49-F238E27FC236}">
                <a16:creationId xmlns:a16="http://schemas.microsoft.com/office/drawing/2014/main" id="{6D7D43B3-DECB-48A2-85BE-B5419F01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9325"/>
            <a:ext cx="716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9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9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WER = (wrong words + missing words + invented words) / words in target</a:t>
            </a:r>
          </a:p>
        </p:txBody>
      </p:sp>
      <p:sp>
        <p:nvSpPr>
          <p:cNvPr id="160" name="example">
            <a:extLst xmlns:a="http://schemas.openxmlformats.org/drawingml/2006/main">
              <a:ext uri="{FF2B5EF4-FFF2-40B4-BE49-F238E27FC236}">
                <a16:creationId xmlns:a16="http://schemas.microsoft.com/office/drawing/2014/main" id="{A9FD11EF-DE20-4C58-8339-6C8545AD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701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Example: 4 target words, 1 wrong word and 1 invented word gives 50% WER.</a:t>
            </a:r>
          </a:p>
        </p:txBody>
      </p:sp>
      <p:sp>
        <p:nvSpPr>
          <p:cNvPr id="161" name="more-than-100">
            <a:extLst xmlns:a="http://schemas.openxmlformats.org/drawingml/2006/main">
              <a:ext uri="{FF2B5EF4-FFF2-40B4-BE49-F238E27FC236}">
                <a16:creationId xmlns:a16="http://schemas.microsoft.com/office/drawing/2014/main" id="{069CD1B9-A73C-4FBB-984D-F8DE4C6E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00525"/>
            <a:ext cx="695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WER can exceed 100% when a model repeats or invents many words after a short prompt.</a:t>
            </a:r>
          </a:p>
        </p:txBody>
      </p:sp>
      <p:sp>
        <p:nvSpPr>
          <p:cNvPr id="162" name="target-policy">
            <a:extLst xmlns:a="http://schemas.openxmlformats.org/drawingml/2006/main">
              <a:ext uri="{FF2B5EF4-FFF2-40B4-BE49-F238E27FC236}">
                <a16:creationId xmlns:a16="http://schemas.microsoft.com/office/drawing/2014/main" id="{2CC93A30-7F01-47B5-85CF-54B1A063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7239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Our project WER uses TORGO written prompts as targets. Manual transcript review is needed to separate prompt deviations from recognition errors.</a:t>
            </a:r>
          </a:p>
        </p:txBody>
      </p:sp>
      <p:sp>
        <p:nvSpPr>
          <p:cNvPr id="163" name="source">
            <a:extLst xmlns:a="http://schemas.openxmlformats.org/drawingml/2006/main">
              <a:ext uri="{FF2B5EF4-FFF2-40B4-BE49-F238E27FC236}">
                <a16:creationId xmlns:a16="http://schemas.microsoft.com/office/drawing/2014/main" id="{773C8136-36AA-4CF3-8D25-6A6FC024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NeuroSAFE speech recognition report, pp. 5–7; dataset and baseline report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DB7BEEEC-A170-5376-2B6E-CB54687B0CB1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10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Five off-the-shelf ASR models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C8866203-E280-4D39-9FC0-F1BA38792652}"/>
              </a:ext>
            </a:extLst>
          </p:cNvPr>
          <p:cNvGraphicFramePr/>
          <p:nvPr/>
        </p:nvGraphicFramePr>
        <p:xfrm>
          <a:off xmlns:a="http://schemas.openxmlformats.org/drawingml/2006/main" x="1095375" y="1533525"/>
          <a:ext xmlns:a="http://schemas.openxmlformats.org/drawingml/2006/main" cx="69532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524000"/>
                <a:gridCol w="1524000"/>
                <a:gridCol w="1524000"/>
              </a:tblGrid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Unadapted model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Mild WER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Moderate WER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Severe WER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Whisper-small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91.0%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HuBERT-large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12.0%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48.0%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86.8%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Whisper-base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66.9%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123.9%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wav2vec2-base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20.6%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70.8%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102.5%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032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Whisper-tiny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22.4%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81.7%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124.3%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five-conclusion">
            <a:extLst xmlns:a="http://schemas.openxmlformats.org/drawingml/2006/main">
              <a:ext uri="{FF2B5EF4-FFF2-40B4-BE49-F238E27FC236}">
                <a16:creationId xmlns:a16="http://schemas.microsoft.com/office/drawing/2014/main" id="{9454B02A-1B63-4395-9DEF-D5CAD737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482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Whisper-small had the lowest overall WER at 53.0%, yet severe speech remained difficult across every baseline.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54792A49-AD81-4A39-9B0B-55040081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NeuroSAFE speech recognition report, p. 11; same 3,077 dysarthric recordings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30394428-F1DC-E5F6-DB0C-7DE31F3D8A23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11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Whisper adaptation and unseen words</a:t>
            </a:r>
            <a:endParaRPr sz="3200"/>
          </a:p>
        </p:txBody>
      </p:sp>
      <p:graphicFrame>
        <p:nvGraphicFramePr>
          <p:cNvPr id="158" name="Chart">
            <a:extLst xmlns:a="http://schemas.openxmlformats.org/drawingml/2006/main">
              <a:ext uri="{FF2B5EF4-FFF2-40B4-BE49-F238E27FC236}">
                <a16:creationId xmlns:a16="http://schemas.microsoft.com/office/drawing/2014/main" id="{DA89BDBC-5834-4A72-BE8B-E85C16C6374C}"/>
              </a:ext>
            </a:extLst>
          </p:cNvPr>
          <p:cNvGraphicFramePr/>
          <p:nvPr/>
        </p:nvGraphicFramePr>
        <p:xfrm>
          <a:off xmlns:a="http://schemas.openxmlformats.org/drawingml/2006/main" x="952500" y="1562100"/>
          <a:ext xmlns:a="http://schemas.openxmlformats.org/drawingml/2006/main" cx="7239000" cy="3276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7a4891dbb141c1"/>
          </a:graphicData>
        </a:graphic>
      </p:graphicFrame>
      <p:sp>
        <p:nvSpPr>
          <p:cNvPr id="159" name="lora-a">
            <a:extLst xmlns:a="http://schemas.openxmlformats.org/drawingml/2006/main">
              <a:ext uri="{FF2B5EF4-FFF2-40B4-BE49-F238E27FC236}">
                <a16:creationId xmlns:a16="http://schemas.microsoft.com/office/drawing/2014/main" id="{3D765200-CECD-4935-A5FD-069FEB7C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9585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99439"/>
          </a:bodyPr>
          <a:lstStyle xmlns:a="http://schemas.openxmlformats.org/drawingml/2006/main">
            <a:defPPr algn="ctr">
              <a:def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Eight leave-one-speaker-out models trained only 1.4% of Whisper-small weights (LoRA rank 32).</a:t>
            </a:r>
          </a:p>
        </p:txBody>
      </p:sp>
      <p:sp>
        <p:nvSpPr>
          <p:cNvPr id="160" name="lora-b">
            <a:extLst xmlns:a="http://schemas.openxmlformats.org/drawingml/2006/main">
              <a:ext uri="{FF2B5EF4-FFF2-40B4-BE49-F238E27FC236}">
                <a16:creationId xmlns:a16="http://schemas.microsoft.com/office/drawing/2014/main" id="{BAFB8762-6E1B-4530-824E-9A16B837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62575"/>
            <a:ext cx="7143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Removing repeated test prompts narrowed the gain from 29.0 to 8.8 points; strict training also retained only 27–76% of its data.</a:t>
            </a:r>
          </a:p>
        </p:txBody>
      </p:sp>
      <p:sp>
        <p:nvSpPr>
          <p:cNvPr id="161" name="source">
            <a:extLst xmlns:a="http://schemas.openxmlformats.org/drawingml/2006/main">
              <a:ext uri="{FF2B5EF4-FFF2-40B4-BE49-F238E27FC236}">
                <a16:creationId xmlns:a16="http://schemas.microsoft.com/office/drawing/2014/main" id="{2C9BE00F-A508-4364-B030-6F491DB5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NeuroSAFE speech recognition report, pp. 8–13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4DB16885-0D3F-A391-B669-3211DB3B26E8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12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Speaker personalisation</a:t>
            </a:r>
            <a:endParaRPr sz="3200"/>
          </a:p>
        </p:txBody>
      </p:sp>
      <p:graphicFrame>
        <p:nvGraphicFramePr>
          <p:cNvPr id="158" name="Chart">
            <a:extLst xmlns:a="http://schemas.openxmlformats.org/drawingml/2006/main">
              <a:ext uri="{FF2B5EF4-FFF2-40B4-BE49-F238E27FC236}">
                <a16:creationId xmlns:a16="http://schemas.microsoft.com/office/drawing/2014/main" id="{551BCF03-8B95-46A8-B25C-1703F629D037}"/>
              </a:ext>
            </a:extLst>
          </p:cNvPr>
          <p:cNvGraphicFramePr/>
          <p:nvPr/>
        </p:nvGraphicFramePr>
        <p:xfrm>
          <a:off xmlns:a="http://schemas.openxmlformats.org/drawingml/2006/main" x="1219200" y="1657350"/>
          <a:ext xmlns:a="http://schemas.openxmlformats.org/drawingml/2006/main" cx="67056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78930507244f15"/>
          </a:graphicData>
        </a:graphic>
      </p:graphicFrame>
      <p:sp>
        <p:nvSpPr>
          <p:cNvPr id="159" name="personal-result">
            <a:extLst xmlns:a="http://schemas.openxmlformats.org/drawingml/2006/main">
              <a:ext uri="{FF2B5EF4-FFF2-40B4-BE49-F238E27FC236}">
                <a16:creationId xmlns:a16="http://schemas.microsoft.com/office/drawing/2014/main" id="{E22DF6E8-F927-4B16-BC78-7D01E0CD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91100"/>
            <a:ext cx="71818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On the same fixed test half, five minutes lowered WER by 3.9 points. Severe speakers M04, M02 and M01 gained the most.</a:t>
            </a:r>
          </a:p>
        </p:txBody>
      </p:sp>
      <p:sp>
        <p:nvSpPr>
          <p:cNvPr id="160" name="personal-limit">
            <a:extLst xmlns:a="http://schemas.openxmlformats.org/drawingml/2006/main">
              <a:ext uri="{FF2B5EF4-FFF2-40B4-BE49-F238E27FC236}">
                <a16:creationId xmlns:a16="http://schemas.microsoft.com/office/drawing/2014/main" id="{B1393D7D-9DE3-4B63-BB40-EB1F3C43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530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One or two minutes sometimes worsened results, indicating overfitting with the tested training recipe.</a:t>
            </a:r>
          </a:p>
        </p:txBody>
      </p:sp>
      <p:sp>
        <p:nvSpPr>
          <p:cNvPr id="161" name="source">
            <a:extLst xmlns:a="http://schemas.openxmlformats.org/drawingml/2006/main">
              <a:ext uri="{FF2B5EF4-FFF2-40B4-BE49-F238E27FC236}">
                <a16:creationId xmlns:a16="http://schemas.microsoft.com/office/drawing/2014/main" id="{D2466FD1-4EA1-47DD-BBB0-6D67138E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NeuroSAFE speech recognition report, pp. 10, 14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2DD23107-4986-8758-3A93-3D74F35908CC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13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Four-fold ASR experiment design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36C5075-5257-4BE5-BFA9-D6CB48C7E3BD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7772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71550"/>
                <a:gridCol w="3124200"/>
                <a:gridCol w="3676650"/>
              </a:tblGrid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Training / test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Whisper Small before adaptation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280 held-out test clips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M1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Rank-8 LoRA on query/value attention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120 steps per fold; 0.37% trainable weights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M1 plus additive inferred AAI projection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M1 frozen; 120 fusion steps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M3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M1 plus gated AAI cross-attention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M1 frozen; 120 fusion steps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</a:tbl>
          </a:graphicData>
        </a:graphic>
      </p:graphicFrame>
      <p:sp>
        <p:nvSpPr>
          <p:cNvPr id="159" name="pilot-splits">
            <a:extLst xmlns:a="http://schemas.openxmlformats.org/drawingml/2006/main">
              <a:ext uri="{FF2B5EF4-FFF2-40B4-BE49-F238E27FC236}">
                <a16:creationId xmlns:a16="http://schemas.microsoft.com/office/drawing/2014/main" id="{4809344B-05C9-4663-BDFC-B0B5F98E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143500"/>
            <a:ext cx="7105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Four fixed speaker-disjoint folds. Each test fold had 70 clips, and every dysarthric speaker contributed 35 clips overall.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9DDD0C5B-0F74-4D2E-A029-98447509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ASR and articulation ablation report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327921A4-25C4-3DB4-06B1-32693CEE2241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14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M0 to M3 model comparison</a:t>
            </a:r>
            <a:endParaRPr sz="3200"/>
          </a:p>
        </p:txBody>
      </p:sp>
      <p:graphicFrame>
        <p:nvGraphicFramePr>
          <p:cNvPr id="158" name="Chart">
            <a:extLst xmlns:a="http://schemas.openxmlformats.org/drawingml/2006/main">
              <a:ext uri="{FF2B5EF4-FFF2-40B4-BE49-F238E27FC236}">
                <a16:creationId xmlns:a16="http://schemas.microsoft.com/office/drawing/2014/main" id="{159BF983-77C4-4DD4-9E5E-C9D12211A3C1}"/>
              </a:ext>
            </a:extLst>
          </p:cNvPr>
          <p:cNvGraphicFramePr/>
          <p:nvPr/>
        </p:nvGraphicFramePr>
        <p:xfrm>
          <a:off xmlns:a="http://schemas.openxmlformats.org/drawingml/2006/main" x="857250" y="1600200"/>
          <a:ext xmlns:a="http://schemas.openxmlformats.org/drawingml/2006/main" cx="74295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04aec86e4344d4"/>
          </a:graphicData>
        </a:graphic>
      </p:graphicFrame>
      <p:sp>
        <p:nvSpPr>
          <p:cNvPr id="159" name="m-results">
            <a:extLst xmlns:a="http://schemas.openxmlformats.org/drawingml/2006/main">
              <a:ext uri="{FF2B5EF4-FFF2-40B4-BE49-F238E27FC236}">
                <a16:creationId xmlns:a16="http://schemas.microsoft.com/office/drawing/2014/main" id="{1A944BE3-40E5-4EA8-8471-3A122F69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708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LoRA removed many repeated insertions. Neither tested articulation fusion method improved on M1.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3FE0A6CC-F624-4DC4-B7B8-98351543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ASR and articulation ablation report; 280 paired short clips, 423 words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EA83FA91-883A-0168-8075-96CEB9DCA3C2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15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Acoustic-to-articulatory method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C22AB6E-997B-4B99-B075-844A21D3B232}"/>
              </a:ext>
            </a:extLst>
          </p:cNvPr>
          <p:cNvGraphicFramePr/>
          <p:nvPr/>
        </p:nvGraphicFramePr>
        <p:xfrm>
          <a:off xmlns:a="http://schemas.openxmlformats.org/drawingml/2006/main" x="657225" y="1704975"/>
          <a:ext xmlns:a="http://schemas.openxmlformats.org/drawingml/2006/main" cx="782955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2143125"/>
                <a:gridCol w="2238375"/>
                <a:gridCol w="2114550"/>
              </a:tblGrid>
              <a:tr h="72866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Audio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Features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Prediction model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Target / output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72866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 kHz speech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40-band log-Mel, 25 ms windows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70 ms-context ridge regression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Articulator x/y trajectories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acoustic input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Per-recording audio normalisation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Temporal convolution alternative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 TORGO coordinate streams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72866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MOCHA audio + EMA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Train-only scaling and time overlap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MOCHA ridge prior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Comparison with held-out EMA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aai-metric">
            <a:extLst xmlns:a="http://schemas.openxmlformats.org/drawingml/2006/main">
              <a:ext uri="{FF2B5EF4-FFF2-40B4-BE49-F238E27FC236}">
                <a16:creationId xmlns:a16="http://schemas.microsoft.com/office/drawing/2014/main" id="{7F495A99-1523-402F-A0C0-24016D4D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86325"/>
            <a:ext cx="7258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Pearson correlation, r, measures agreement with held-out articulator movement. A value near 1 is better.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60B530D6-A597-47B8-AC3B-A4FF0C05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MOCHA articulatory baseline; TORGO–MOCHA transfer study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DC9C7607-4BA3-B4DC-A00F-2E67A9FCFF7E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16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Articulatory model comparison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336C9720-53A9-4162-AB48-16FCE1C417FA}"/>
              </a:ext>
            </a:extLst>
          </p:cNvPr>
          <p:cNvGraphicFramePr/>
          <p:nvPr/>
        </p:nvGraphicFramePr>
        <p:xfrm>
          <a:off xmlns:a="http://schemas.openxmlformats.org/drawingml/2006/main" x="781050" y="1514475"/>
          <a:ext xmlns:a="http://schemas.openxmlformats.org/drawingml/2006/main" cx="75819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1666875"/>
                <a:gridCol w="2581275"/>
              </a:tblGrid>
              <a:tr h="55108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Method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channel r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Interpretation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55108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TORGO ridge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Initial reference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Ridge + audio normalisation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0.213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retained TORGO method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55108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Ridge + MOCHA prior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Only 0.001 above retained ridge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Temporal convolution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0.194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Below ridge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55108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Temporal + MOCHA pretraining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transfer gain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Dysarthric-only temporal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0.152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Lower again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</a:tbl>
          </a:graphicData>
        </a:graphic>
      </p:graphicFrame>
      <p:sp>
        <p:nvSpPr>
          <p:cNvPr id="159" name="aai-status">
            <a:extLst xmlns:a="http://schemas.openxmlformats.org/drawingml/2006/main">
              <a:ext uri="{FF2B5EF4-FFF2-40B4-BE49-F238E27FC236}">
                <a16:creationId xmlns:a16="http://schemas.microsoft.com/office/drawing/2014/main" id="{D87EB9DC-2BD6-4804-8EE1-2C7172FD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727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89896"/>
          </a:bodyPr>
          <a:lstStyle xmlns:a="http://schemas.openxmlformats.org/drawingml/2006/main">
            <a:defPPr algn="ctr">
              <a:def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The project target r ≥ 0.70 is not met. Only seven dysarthric speakers have validated TORGO audio/EMA pairs.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073C0978-2106-444D-934A-68D8248A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articulatory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90F7333B-44AC-F7E9-D49D-FE92F45E0477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17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Why fusion was not retained</a:t>
            </a:r>
            <a:endParaRPr sz="3200"/>
          </a:p>
        </p:txBody>
      </p:sp>
      <p:sp>
        <p:nvSpPr>
          <p:cNvPr id="158" name="fusion-logic">
            <a:extLst xmlns:a="http://schemas.openxmlformats.org/drawingml/2006/main">
              <a:ext uri="{FF2B5EF4-FFF2-40B4-BE49-F238E27FC236}">
                <a16:creationId xmlns:a16="http://schemas.microsoft.com/office/drawing/2014/main" id="{CF543B24-20E5-4103-BF59-5F5D6DB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90675"/>
            <a:ext cx="7239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The articulation branch predicts movement from the same audio. Its held-out correlation is weak, so it may add noise to ASR rather than new information.</a:t>
            </a:r>
          </a:p>
        </p:txBody>
      </p:sp>
      <p:sp>
        <p:nvSpPr>
          <p:cNvPr id="159" name="stat-47.8%">
            <a:extLst xmlns:a="http://schemas.openxmlformats.org/drawingml/2006/main">
              <a:ext uri="{FF2B5EF4-FFF2-40B4-BE49-F238E27FC236}">
                <a16:creationId xmlns:a16="http://schemas.microsoft.com/office/drawing/2014/main" id="{EE9EBDAA-BCE3-4013-8660-785B85E3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67050"/>
            <a:ext cx="2209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300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47.8%</a:t>
            </a:r>
          </a:p>
        </p:txBody>
      </p:sp>
      <p:sp>
        <p:nvSpPr>
          <p:cNvPr id="160" name="statlabel-47.8%">
            <a:extLst xmlns:a="http://schemas.openxmlformats.org/drawingml/2006/main">
              <a:ext uri="{FF2B5EF4-FFF2-40B4-BE49-F238E27FC236}">
                <a16:creationId xmlns:a16="http://schemas.microsoft.com/office/drawing/2014/main" id="{0479047D-E6B9-442D-B160-8092D5AF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81400"/>
            <a:ext cx="2209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M1 audio-only</a:t>
            </a:r>
          </a:p>
        </p:txBody>
      </p:sp>
      <p:sp>
        <p:nvSpPr>
          <p:cNvPr id="161" name="stat-48.0%">
            <a:extLst xmlns:a="http://schemas.openxmlformats.org/drawingml/2006/main">
              <a:ext uri="{FF2B5EF4-FFF2-40B4-BE49-F238E27FC236}">
                <a16:creationId xmlns:a16="http://schemas.microsoft.com/office/drawing/2014/main" id="{38BBE5A8-0612-48BF-9682-B5DDC4FA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2209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48.0%</a:t>
            </a:r>
          </a:p>
        </p:txBody>
      </p:sp>
      <p:sp>
        <p:nvSpPr>
          <p:cNvPr id="162" name="statlabel-48.0%">
            <a:extLst xmlns:a="http://schemas.openxmlformats.org/drawingml/2006/main">
              <a:ext uri="{FF2B5EF4-FFF2-40B4-BE49-F238E27FC236}">
                <a16:creationId xmlns:a16="http://schemas.microsoft.com/office/drawing/2014/main" id="{57EAA73C-9AE2-4868-98F2-B8ADFF5F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81400"/>
            <a:ext cx="2209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M2 additive fusion</a:t>
            </a:r>
          </a:p>
        </p:txBody>
      </p:sp>
      <p:sp>
        <p:nvSpPr>
          <p:cNvPr id="163" name="stat-48.2%">
            <a:extLst xmlns:a="http://schemas.openxmlformats.org/drawingml/2006/main">
              <a:ext uri="{FF2B5EF4-FFF2-40B4-BE49-F238E27FC236}">
                <a16:creationId xmlns:a16="http://schemas.microsoft.com/office/drawing/2014/main" id="{C7EE43B1-904E-48C7-9F2F-8D4BC3A1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67050"/>
            <a:ext cx="2209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48.2%</a:t>
            </a:r>
          </a:p>
        </p:txBody>
      </p:sp>
      <p:sp>
        <p:nvSpPr>
          <p:cNvPr id="164" name="statlabel-48.2%">
            <a:extLst xmlns:a="http://schemas.openxmlformats.org/drawingml/2006/main">
              <a:ext uri="{FF2B5EF4-FFF2-40B4-BE49-F238E27FC236}">
                <a16:creationId xmlns:a16="http://schemas.microsoft.com/office/drawing/2014/main" id="{A80CAE93-C56C-4077-AE73-DD64FF06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81400"/>
            <a:ext cx="2209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M3 gated fusion</a:t>
            </a:r>
          </a:p>
        </p:txBody>
      </p:sp>
      <p:sp>
        <p:nvSpPr>
          <p:cNvPr id="165" name="fusion-decision">
            <a:extLst xmlns:a="http://schemas.openxmlformats.org/drawingml/2006/main">
              <a:ext uri="{FF2B5EF4-FFF2-40B4-BE49-F238E27FC236}">
                <a16:creationId xmlns:a16="http://schemas.microsoft.com/office/drawing/2014/main" id="{53367EBC-82F8-47FC-AFDD-22EEE96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48200"/>
            <a:ext cx="7067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6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Decision: retain M1 as the short-clip reference, improve AAI validity, then re-test fusion on the same held-out clips.</a:t>
            </a:r>
          </a:p>
        </p:txBody>
      </p:sp>
      <p:sp>
        <p:nvSpPr>
          <p:cNvPr id="166" name="source">
            <a:extLst xmlns:a="http://schemas.openxmlformats.org/drawingml/2006/main">
              <a:ext uri="{FF2B5EF4-FFF2-40B4-BE49-F238E27FC236}">
                <a16:creationId xmlns:a16="http://schemas.microsoft.com/office/drawing/2014/main" id="{AF7D9492-E8D1-44E9-9F51-ABB7DDF2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ASR and articulation ablation report; articulatory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B1C6C81E-38B9-7560-621D-5A151A79DF9B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18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Long-recording experiment</a:t>
            </a:r>
            <a:endParaRPr sz="3200"/>
          </a:p>
        </p:txBody>
      </p:sp>
      <p:graphicFrame>
        <p:nvGraphicFramePr>
          <p:cNvPr id="158" name="Chart">
            <a:extLst xmlns:a="http://schemas.openxmlformats.org/drawingml/2006/main">
              <a:ext uri="{FF2B5EF4-FFF2-40B4-BE49-F238E27FC236}">
                <a16:creationId xmlns:a16="http://schemas.microsoft.com/office/drawing/2014/main" id="{F5934DBD-4564-4BA3-BEB0-3CC6807CB977}"/>
              </a:ext>
            </a:extLst>
          </p:cNvPr>
          <p:cNvGraphicFramePr/>
          <p:nvPr/>
        </p:nvGraphicFramePr>
        <p:xfrm>
          <a:off xmlns:a="http://schemas.openxmlformats.org/drawingml/2006/main" x="1028700" y="1657350"/>
          <a:ext xmlns:a="http://schemas.openxmlformats.org/drawingml/2006/main" cx="70866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06d858541541b3"/>
          </a:graphicData>
        </a:graphic>
      </p:graphicFrame>
      <p:sp>
        <p:nvSpPr>
          <p:cNvPr id="159" name="long-method">
            <a:extLst xmlns:a="http://schemas.openxmlformats.org/drawingml/2006/main">
              <a:ext uri="{FF2B5EF4-FFF2-40B4-BE49-F238E27FC236}">
                <a16:creationId xmlns:a16="http://schemas.microsoft.com/office/drawing/2014/main" id="{839A01CD-D450-441B-81ED-7F06A382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76800"/>
            <a:ext cx="7143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Same 187 clips, 6–30 s, 1,567 words. Early LoRA trained for 240 steps; broader LoRA sampled 75% dysarthric clips and ran up to 900 steps, with checkpoints chosen on validation speakers.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24593683-CF03-4109-AE16-BE031785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long-recording evaluation; broader-prompt ASR study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CCF91274-D221-1BB4-3BF9-836E3AD31EBE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19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What drove the long-test gain</a:t>
            </a:r>
            <a:endParaRPr sz="3200"/>
          </a:p>
        </p:txBody>
      </p:sp>
      <p:sp>
        <p:nvSpPr>
          <p:cNvPr id="158" name="stat-162">
            <a:extLst xmlns:a="http://schemas.openxmlformats.org/drawingml/2006/main">
              <a:ext uri="{FF2B5EF4-FFF2-40B4-BE49-F238E27FC236}">
                <a16:creationId xmlns:a16="http://schemas.microsoft.com/office/drawing/2014/main" id="{B8CCBD78-DBFB-49D8-ABA1-B9DF5690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47825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300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2D76AC"/>
                </a:solidFill>
                <a:latin typeface="Times New Roman"/>
                <a:ea typeface="Times New Roman"/>
                <a:cs typeface="Times New Roman"/>
              </a:rPr>
              <a:t>162</a:t>
            </a:r>
          </a:p>
        </p:txBody>
      </p:sp>
      <p:sp>
        <p:nvSpPr>
          <p:cNvPr id="159" name="statlabel-162">
            <a:extLst xmlns:a="http://schemas.openxmlformats.org/drawingml/2006/main">
              <a:ext uri="{FF2B5EF4-FFF2-40B4-BE49-F238E27FC236}">
                <a16:creationId xmlns:a16="http://schemas.microsoft.com/office/drawing/2014/main" id="{16007D7F-E7E4-47A6-B355-9490965C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62175"/>
            <a:ext cx="285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fewer total errors</a:t>
            </a:r>
          </a:p>
        </p:txBody>
      </p:sp>
      <p:sp>
        <p:nvSpPr>
          <p:cNvPr id="160" name="stat-150">
            <a:extLst xmlns:a="http://schemas.openxmlformats.org/drawingml/2006/main">
              <a:ext uri="{FF2B5EF4-FFF2-40B4-BE49-F238E27FC236}">
                <a16:creationId xmlns:a16="http://schemas.microsoft.com/office/drawing/2014/main" id="{2853887F-8E3A-4E06-83CE-940DC32A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47825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150</a:t>
            </a:r>
          </a:p>
        </p:txBody>
      </p:sp>
      <p:sp>
        <p:nvSpPr>
          <p:cNvPr id="161" name="statlabel-150">
            <a:extLst xmlns:a="http://schemas.openxmlformats.org/drawingml/2006/main">
              <a:ext uri="{FF2B5EF4-FFF2-40B4-BE49-F238E27FC236}">
                <a16:creationId xmlns:a16="http://schemas.microsoft.com/office/drawing/2014/main" id="{2DBDE8A6-D6BE-4FD1-BCA2-C276696F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62175"/>
            <a:ext cx="285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saved on one M04 clip</a:t>
            </a:r>
          </a:p>
        </p:txBody>
      </p:sp>
      <p:sp>
        <p:nvSpPr>
          <p:cNvPr id="162" name="outlier-detail">
            <a:extLst xmlns:a="http://schemas.openxmlformats.org/drawingml/2006/main">
              <a:ext uri="{FF2B5EF4-FFF2-40B4-BE49-F238E27FC236}">
                <a16:creationId xmlns:a16="http://schemas.microsoft.com/office/drawing/2014/main" id="{1ADB88BB-F6E5-434A-A92E-52A9E4FB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181350"/>
            <a:ext cx="7067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On one 12-word M04 prompt, the earlier model made 157 errors by repeating text. The newer model made 7 errors.</a:t>
            </a:r>
          </a:p>
        </p:txBody>
      </p:sp>
      <p:sp>
        <p:nvSpPr>
          <p:cNvPr id="163" name="outlier-check">
            <a:extLst xmlns:a="http://schemas.openxmlformats.org/drawingml/2006/main">
              <a:ext uri="{FF2B5EF4-FFF2-40B4-BE49-F238E27FC236}">
                <a16:creationId xmlns:a16="http://schemas.microsoft.com/office/drawing/2014/main" id="{100FB064-DB4A-4556-9FC0-39F8A0EA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391025"/>
            <a:ext cx="702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7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Removing that clip changes the comparison from 40.5% to 39.7% WER on the other 186 clips: a 0.8-point gain.</a:t>
            </a:r>
          </a:p>
        </p:txBody>
      </p:sp>
      <p:sp>
        <p:nvSpPr>
          <p:cNvPr id="164" name="source">
            <a:extLst xmlns:a="http://schemas.openxmlformats.org/drawingml/2006/main">
              <a:ext uri="{FF2B5EF4-FFF2-40B4-BE49-F238E27FC236}">
                <a16:creationId xmlns:a16="http://schemas.microsoft.com/office/drawing/2014/main" id="{64661480-DBEE-4A15-BE55-BAE27BB3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broader-prompt ASR study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844E025A-983C-6D44-79C6-4612AACD43FC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20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Fresh multiword test</a:t>
            </a:r>
            <a:endParaRPr sz="3200"/>
          </a:p>
        </p:txBody>
      </p:sp>
      <p:graphicFrame>
        <p:nvGraphicFramePr>
          <p:cNvPr id="158" name="Chart">
            <a:extLst xmlns:a="http://schemas.openxmlformats.org/drawingml/2006/main">
              <a:ext uri="{FF2B5EF4-FFF2-40B4-BE49-F238E27FC236}">
                <a16:creationId xmlns:a16="http://schemas.microsoft.com/office/drawing/2014/main" id="{F270FF51-3BEA-4A3A-9A4F-31D1C82EA1B6}"/>
              </a:ext>
            </a:extLst>
          </p:cNvPr>
          <p:cNvGraphicFramePr/>
          <p:nvPr/>
        </p:nvGraphicFramePr>
        <p:xfrm>
          <a:off xmlns:a="http://schemas.openxmlformats.org/drawingml/2006/main" x="1143000" y="1638300"/>
          <a:ext xmlns:a="http://schemas.openxmlformats.org/drawingml/2006/main" cx="6858000" cy="2933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b41a59aecd4d9f"/>
          </a:graphicData>
        </a:graphic>
      </p:graphicFrame>
      <p:sp>
        <p:nvSpPr>
          <p:cNvPr id="159" name="fresh-method">
            <a:extLst xmlns:a="http://schemas.openxmlformats.org/drawingml/2006/main">
              <a:ext uri="{FF2B5EF4-FFF2-40B4-BE49-F238E27FC236}">
                <a16:creationId xmlns:a16="http://schemas.microsoft.com/office/drawing/2014/main" id="{E143F025-CE05-4302-853A-C46868D4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714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Forty unused clips: five per dysarthric speaker, each with at least four target words. Targeted training ran up to 600 steps per fold, sampled 75% dysarthric and 60% multiword clips, and selected checkpoints on validation.</a:t>
            </a:r>
          </a:p>
        </p:txBody>
      </p:sp>
      <p:sp>
        <p:nvSpPr>
          <p:cNvPr id="160" name="fresh-limit">
            <a:extLst xmlns:a="http://schemas.openxmlformats.org/drawingml/2006/main">
              <a:ext uri="{FF2B5EF4-FFF2-40B4-BE49-F238E27FC236}">
                <a16:creationId xmlns:a16="http://schemas.microsoft.com/office/drawing/2014/main" id="{EAB14E7E-ED87-449B-9D45-42FA9E9A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91150"/>
            <a:ext cx="701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98885"/>
          </a:bodyPr>
          <a:lstStyle xmlns:a="http://schemas.openxmlformats.org/drawingml/2006/main">
            <a:defPPr algn="ctr">
              <a:def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The 3.3-point reduction has a descriptive 95% interval of −10.3 to +1.4 points. It is not yet a reliable gain.</a:t>
            </a:r>
          </a:p>
        </p:txBody>
      </p:sp>
      <p:sp>
        <p:nvSpPr>
          <p:cNvPr id="161" name="source">
            <a:extLst xmlns:a="http://schemas.openxmlformats.org/drawingml/2006/main">
              <a:ext uri="{FF2B5EF4-FFF2-40B4-BE49-F238E27FC236}">
                <a16:creationId xmlns:a16="http://schemas.microsoft.com/office/drawing/2014/main" id="{282D0C0A-5849-4EAA-BE91-6EC47249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assistant experiment report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F6DF2BE2-2DFA-1C03-677D-BDC2260D6D92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21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Assistant architecture and safety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C2D7824-816E-4E0E-8435-2CB9349B3AED}"/>
              </a:ext>
            </a:extLst>
          </p:cNvPr>
          <p:cNvGraphicFramePr/>
          <p:nvPr/>
        </p:nvGraphicFramePr>
        <p:xfrm>
          <a:off xmlns:a="http://schemas.openxmlformats.org/drawingml/2006/main" x="771525" y="1571625"/>
          <a:ext xmlns:a="http://schemas.openxmlformats.org/drawingml/2006/main" cx="7600950" cy="3743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505450"/>
              </a:tblGrid>
              <a:tr h="6238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Module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Implemented behaviour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6238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page saves 16 kHz mono WAV and a manifest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ASR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Selected adapter transcribes the saved clip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238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Intent parser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Small allowlist: time, calendar, app, light, call, message, delete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38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gate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Audio-derived actions ask for confirmation; high-risk actions always confirm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2388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Outcome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Explicit control returns a simulated receipt; no real tool executes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safety">
            <a:extLst xmlns:a="http://schemas.openxmlformats.org/drawingml/2006/main">
              <a:ext uri="{FF2B5EF4-FFF2-40B4-BE49-F238E27FC236}">
                <a16:creationId xmlns:a16="http://schemas.microsoft.com/office/drawing/2014/main" id="{D97B3E3F-4AD7-40E0-879A-BBC0976D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38775"/>
            <a:ext cx="702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5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A spoken “confirm” in ASR output cannot approve a pending action.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D6E39631-B053-4041-9233-7795769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local assistant implementation; assistant experiment report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0BB18BA8-60F4-C50D-CD9B-1BB87D3E8506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22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Assistant checks completed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883C1A3-9EEF-40CB-B58C-4370B124CE7E}"/>
              </a:ext>
            </a:extLst>
          </p:cNvPr>
          <p:cNvGraphicFramePr/>
          <p:nvPr/>
        </p:nvGraphicFramePr>
        <p:xfrm>
          <a:off xmlns:a="http://schemas.openxmlformats.org/drawingml/2006/main" x="666750" y="1495425"/>
          <a:ext xmlns:a="http://schemas.openxmlformats.org/drawingml/2006/main" cx="78105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14550"/>
                <a:gridCol w="1819275"/>
                <a:gridCol w="3876675"/>
              </a:tblGrid>
              <a:tr h="615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Observed result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615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Authored text fixtures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26/26 passed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Parser and safe routing work on written cases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Synthetic spoken commands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18/18 intended intents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Synthetic voice only; no user accuracy claim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15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TORGO negative controls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0/187 + 0/40 action matches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Narrative speech did not trigger allowlisted 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live command clip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clip; command not recognised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smoke result; no usable accuracy estimate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6159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Real action execution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 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Connector absent by design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latency">
            <a:extLst xmlns:a="http://schemas.openxmlformats.org/drawingml/2006/main">
              <a:ext uri="{FF2B5EF4-FFF2-40B4-BE49-F238E27FC236}">
                <a16:creationId xmlns:a16="http://schemas.microsoft.com/office/drawing/2014/main" id="{15959B97-F6FA-4F3A-A334-14245079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05425"/>
            <a:ext cx="712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Warm WAV-to-decision processing was measured, but microphone capture and real-tool latency were not.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33646732-9B00-49B4-8223-2D4DE19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assistant experiment report; local recording result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A4E99CEF-AF55-BA3C-ADF8-4E52E186DD8F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23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Results against project targets</a:t>
            </a:r>
            <a:endParaRPr sz="3200"/>
          </a:p>
        </p:txBody>
      </p:sp>
      <p:graphicFrame>
        <p:nvGraphicFrame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12D24496-AD6C-4E4A-BDAA-535D639531F7}"/>
              </a:ext>
            </a:extLst>
          </p:cNvPr>
          <p:cNvGraphicFramePr/>
          <p:nvPr/>
        </p:nvGraphicFramePr>
        <p:xfrm>
          <a:off xmlns:a="http://schemas.openxmlformats.org/drawingml/2006/main" x="695325" y="1600200"/>
          <a:ext xmlns:a="http://schemas.openxmlformats.org/drawingml/2006/main" cx="775335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2047875"/>
                <a:gridCol w="3800475"/>
              </a:tblGrid>
              <a:tr h="5905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Project target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evidence</a:t>
                      </a:r>
                    </a:p>
                  </a:txBody>
                  <a:tcPr marL="91440" marR="91440" marT="45720" marB="45720" anchor="ctr">
                    <a:solidFill>
                      <a:srgbClr val="2D76AC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ASR WER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20–25%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Fresh multiword 29.6%; target not met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AAI correlation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 ≥ 0.70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held-out TORGO r = 0.213; target not met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Entity resolution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≥90%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dysarthric-command cohort scored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 execution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≥92% correct zero-click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 real action connector or task evaluation</a:t>
                      </a:r>
                    </a:p>
                  </a:txBody>
                  <a:tcPr marL="91440" marR="91440" marT="45720" marB="45720" anchor="ctr">
                    <a:solidFill>
                      <a:srgbClr val="F6FAFC"/>
                    </a:solidFill>
                  </a:tcPr>
                </a:tc>
              </a:tr>
              <a:tr h="59055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End-to-end latency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≤1.5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61616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Only partial warm processing measured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9" name="target-honesty">
            <a:extLst xmlns:a="http://schemas.openxmlformats.org/drawingml/2006/main">
              <a:ext uri="{FF2B5EF4-FFF2-40B4-BE49-F238E27FC236}">
                <a16:creationId xmlns:a16="http://schemas.microsoft.com/office/drawing/2014/main" id="{9614BC38-E045-49AD-B36F-173A22C0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05425"/>
            <a:ext cx="721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The prototype demonstrates components and safe routing. It does not yet demonstrate the project’s end-to-end acceptance targets.</a:t>
            </a:r>
          </a:p>
        </p:txBody>
      </p:sp>
      <p:sp>
        <p:nvSpPr>
          <p:cNvPr id="160" name="source">
            <a:extLst xmlns:a="http://schemas.openxmlformats.org/drawingml/2006/main">
              <a:ext uri="{FF2B5EF4-FFF2-40B4-BE49-F238E27FC236}">
                <a16:creationId xmlns:a16="http://schemas.microsoft.com/office/drawing/2014/main" id="{71293DA4-7729-41ED-B076-232D645E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Supplied project proposal, p. 28; latest ASR, AAI and assistant reports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929C7B-A3C3-487E-A602-D02CADC35CFC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8172450" y="381000"/>
            <a:ext cx="4381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4A59AF09-D197-0193-A7DE-FAAF0B691058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24</a:t>
            </a:fld>
            <a:endParaRPr/>
          </a:p>
        </p:txBody>
      </p:sp>
      <p:sp>
        <p:nvSpPr>
          <p:cNvPr id="157" name="Motivation">
            <a:extLst xmlns:a="http://schemas.openxmlformats.org/drawingml/2006/main">
              <a:ext uri="{FF2B5EF4-FFF2-40B4-BE49-F238E27FC236}">
                <a16:creationId xmlns:a16="http://schemas.microsoft.com/office/drawing/2014/main" id="{CEF16E1D-E0DC-48EB-8141-30835A28C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2500" y="504825"/>
            <a:ext cx="723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buNone/>
              <a:defRPr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algn="ctr">
              <a:def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Conclusion and next experiments</a:t>
            </a:r>
            <a:endParaRPr sz="3200"/>
          </a:p>
        </p:txBody>
      </p:sp>
      <p:sp>
        <p:nvSpPr>
          <p:cNvPr id="158" name="finding">
            <a:extLst xmlns:a="http://schemas.openxmlformats.org/drawingml/2006/main">
              <a:ext uri="{FF2B5EF4-FFF2-40B4-BE49-F238E27FC236}">
                <a16:creationId xmlns:a16="http://schemas.microsoft.com/office/drawing/2014/main" id="{4FCB7554-C9A1-4A7F-81C8-DC237BE5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495425"/>
            <a:ext cx="708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21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What the evidence supports</a:t>
            </a:r>
          </a:p>
        </p:txBody>
      </p:sp>
      <p:sp>
        <p:nvSpPr>
          <p:cNvPr id="159" name="finding-body">
            <a:extLst xmlns:a="http://schemas.openxmlformats.org/drawingml/2006/main">
              <a:ext uri="{FF2B5EF4-FFF2-40B4-BE49-F238E27FC236}">
                <a16:creationId xmlns:a16="http://schemas.microsoft.com/office/drawing/2014/main" id="{13A8BA0B-9917-4E65-B04F-0E98E0BF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09775"/>
            <a:ext cx="7105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Whisper LoRA improves recognition on matched test clips. New wording, severe speakers and longer commands still cause substantial errors; inferred articulation has not improved ASR yet.</a:t>
            </a:r>
          </a:p>
        </p:txBody>
      </p:sp>
      <p:sp>
        <p:nvSpPr>
          <p:cNvPr id="160" name="next">
            <a:extLst xmlns:a="http://schemas.openxmlformats.org/drawingml/2006/main">
              <a:ext uri="{FF2B5EF4-FFF2-40B4-BE49-F238E27FC236}">
                <a16:creationId xmlns:a16="http://schemas.microsoft.com/office/drawing/2014/main" id="{A2A9E7D9-C944-4E98-8658-8A56E8B4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43275"/>
            <a:ext cx="7086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21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963651"/>
                </a:solidFill>
                <a:latin typeface="Times New Roman"/>
                <a:ea typeface="Times New Roman"/>
                <a:cs typeface="Times New Roman"/>
              </a:rPr>
              <a:t>Next experiments</a:t>
            </a:r>
          </a:p>
        </p:txBody>
      </p:sp>
      <p:sp>
        <p:nvSpPr>
          <p:cNvPr id="161" name="next-body">
            <a:extLst xmlns:a="http://schemas.openxmlformats.org/drawingml/2006/main">
              <a:ext uri="{FF2B5EF4-FFF2-40B4-BE49-F238E27FC236}">
                <a16:creationId xmlns:a16="http://schemas.microsoft.com/office/drawing/2014/main" id="{463EB55F-B8B5-4809-A49E-E147498F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7124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Collect consenting dysarthric command recordings; verify spoken transcripts; retune low-data adaptation; improve AAI channel validity; then measure intent, false actions and full end-to-end latency.</a:t>
            </a:r>
          </a:p>
        </p:txBody>
      </p:sp>
      <p:sp>
        <p:nvSpPr>
          <p:cNvPr id="162" name="source">
            <a:extLst xmlns:a="http://schemas.openxmlformats.org/drawingml/2006/main">
              <a:ext uri="{FF2B5EF4-FFF2-40B4-BE49-F238E27FC236}">
                <a16:creationId xmlns:a16="http://schemas.microsoft.com/office/drawing/2014/main" id="{F4ADF261-3684-4645-82B8-B860F864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05500"/>
            <a:ext cx="752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Source: Current project workspace and supplied NeuroSAFE report</a:t>
            </a:r>
          </a:p>
        </p:txBody>
      </p:sp>
    </p:spTree>
    <p:extLst>
      <p:ext uri="{BB962C8B-B14F-4D97-AF65-F5344CB8AC3E}">
        <p14:creationId xmlns:p14="http://schemas.microsoft.com/office/powerpoint/2010/main" val="144380465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31FAEB-EB1A-4CE3-BDD4-8B92E3F87D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1886" y="2809149"/>
            <a:ext cx="8229600" cy="1508126"/>
          </a:xfrm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33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33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THANK YOU</a:t>
            </a:r>
            <a:endParaRPr sz="4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B721A96B-8B05-BD49-B6F0-8D4DA60AFD4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defRPr>
            </a:pPr>
            <a:fld id="{F3AE1AE4-D79E-94D6-E825-3FC6C21A77D2}" type="slidenum">
              <a:rPr sz="1425">
                <a:solidFill>
                  <a:srgbClr val="161616"/>
                </a:solidFill>
                <a:latin typeface="Times New Roman"/>
                <a:ea typeface="Times New Roman"/>
                <a:cs typeface="Times New Roman"/>
              </a:rPr>
              <a:t>25</a:t>
            </a:fld>
            <a:endParaRPr/>
          </a:p>
        </p:txBody>
      </p:sp>
      <p:sp>
        <p:nvSpPr>
          <p:cNvPr id="4" name="refs">
            <a:extLst xmlns:a="http://schemas.openxmlformats.org/drawingml/2006/main">
              <a:ext uri="{FF2B5EF4-FFF2-40B4-BE49-F238E27FC236}">
                <a16:creationId xmlns:a16="http://schemas.microsoft.com/office/drawing/2014/main" id="{55110386-4865-4FCD-9043-38318055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10150"/>
            <a:ext cx="7029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lnSpc>
                <a:spcPct val="103000"/>
              </a:lnSpc>
              <a:buNone/>
              <a:defRPr sz="1275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>
                <a:solidFill>
                  <a:srgbClr val="565656"/>
                </a:solidFill>
                <a:latin typeface="Times New Roman"/>
                <a:ea typeface="Times New Roman"/>
                <a:cs typeface="Times New Roman"/>
              </a:rPr>
              <a:t>Sources: TORGO (Rudzicz et al., 2012); Whisper (Radford et al., 2023); LoRA (Hu et al., 2022); supplied NeuroSAFE report (7 Oct 2026); project experiment logs and saved results.</a:t>
            </a:r>
          </a:p>
        </p:txBody>
      </p:sp>
    </p:spTree>
    <p:extLst>
      <p:ext uri="{BB962C8B-B14F-4D97-AF65-F5344CB8AC3E}">
        <p14:creationId xmlns:p14="http://schemas.microsoft.com/office/powerpoint/2010/main" val="2290172774"/>
      </p:ext>
    </p:extLst>
  </p:cSld>
</p:sld>
</file>

<file path=ppt/theme/theme1.xml><?xml version="1.0" encoding="utf-8"?>
<a:theme xmlns:a="http://schemas.openxmlformats.org/drawingml/2006/main" name="11_Default Design">
  <a:themeElements>
    <a:clrScheme name="11_Default Desig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11_Default Design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11_Default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2026-10-07T14:51:13.2880000Z</dcterms:created>
  <dcterms:modified xsi:type="dcterms:W3CDTF">2026-10-07T14:51:13.2880000Z</dcterms:modified>
</coreProperties>
</file>